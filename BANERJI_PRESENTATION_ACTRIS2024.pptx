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1" r:id="rId4"/>
    <p:sldId id="258" r:id="rId5"/>
    <p:sldId id="272" r:id="rId6"/>
    <p:sldId id="260" r:id="rId7"/>
    <p:sldId id="264" r:id="rId8"/>
    <p:sldId id="262" r:id="rId9"/>
    <p:sldId id="265" r:id="rId10"/>
    <p:sldId id="273" r:id="rId11"/>
    <p:sldId id="267" r:id="rId12"/>
    <p:sldId id="266" r:id="rId13"/>
    <p:sldId id="269" r:id="rId14"/>
    <p:sldId id="270" r:id="rId15"/>
    <p:sldId id="257" r:id="rId16"/>
    <p:sldId id="271" r:id="rId17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D0019-9B8D-4261-A23E-3A5FC88DCC95}" v="2" dt="2024-05-13T20:11:05.9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664" autoAdjust="0"/>
  </p:normalViewPr>
  <p:slideViewPr>
    <p:cSldViewPr snapToGrid="0">
      <p:cViewPr varScale="1">
        <p:scale>
          <a:sx n="78" d="100"/>
          <a:sy n="78" d="100"/>
        </p:scale>
        <p:origin x="63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nerji, Sujai" userId="d4c6db7f-8bc7-46e2-87b1-c48b7a719ec4" providerId="ADAL" clId="{084D0019-9B8D-4261-A23E-3A5FC88DCC95}"/>
    <pc:docChg chg="undo custSel addSld delSld modSld sldOrd">
      <pc:chgData name="Banerji, Sujai" userId="d4c6db7f-8bc7-46e2-87b1-c48b7a719ec4" providerId="ADAL" clId="{084D0019-9B8D-4261-A23E-3A5FC88DCC95}" dt="2024-06-03T20:27:54.862" v="39" actId="21"/>
      <pc:docMkLst>
        <pc:docMk/>
      </pc:docMkLst>
      <pc:sldChg chg="addSp delSp modSp mod">
        <pc:chgData name="Banerji, Sujai" userId="d4c6db7f-8bc7-46e2-87b1-c48b7a719ec4" providerId="ADAL" clId="{084D0019-9B8D-4261-A23E-3A5FC88DCC95}" dt="2024-05-28T14:24:49.948" v="20" actId="22"/>
        <pc:sldMkLst>
          <pc:docMk/>
          <pc:sldMk cId="2334968861" sldId="257"/>
        </pc:sldMkLst>
        <pc:picChg chg="add del mod">
          <ac:chgData name="Banerji, Sujai" userId="d4c6db7f-8bc7-46e2-87b1-c48b7a719ec4" providerId="ADAL" clId="{084D0019-9B8D-4261-A23E-3A5FC88DCC95}" dt="2024-05-28T02:21:12.833" v="11" actId="478"/>
          <ac:picMkLst>
            <pc:docMk/>
            <pc:sldMk cId="2334968861" sldId="257"/>
            <ac:picMk id="3" creationId="{8856698A-C913-0375-C901-F3D47CC79E0B}"/>
          </ac:picMkLst>
        </pc:picChg>
        <pc:picChg chg="add del">
          <ac:chgData name="Banerji, Sujai" userId="d4c6db7f-8bc7-46e2-87b1-c48b7a719ec4" providerId="ADAL" clId="{084D0019-9B8D-4261-A23E-3A5FC88DCC95}" dt="2024-05-28T03:24:24.001" v="13" actId="478"/>
          <ac:picMkLst>
            <pc:docMk/>
            <pc:sldMk cId="2334968861" sldId="257"/>
            <ac:picMk id="7" creationId="{6B9F9865-B7FF-F6F6-1E98-AF436B6E68EC}"/>
          </ac:picMkLst>
        </pc:picChg>
        <pc:picChg chg="add del">
          <ac:chgData name="Banerji, Sujai" userId="d4c6db7f-8bc7-46e2-87b1-c48b7a719ec4" providerId="ADAL" clId="{084D0019-9B8D-4261-A23E-3A5FC88DCC95}" dt="2024-05-28T03:36:53.207" v="15" actId="478"/>
          <ac:picMkLst>
            <pc:docMk/>
            <pc:sldMk cId="2334968861" sldId="257"/>
            <ac:picMk id="10" creationId="{AE3E499F-84B4-0D1A-35CB-03E52C63D1D4}"/>
          </ac:picMkLst>
        </pc:picChg>
        <pc:picChg chg="add del">
          <ac:chgData name="Banerji, Sujai" userId="d4c6db7f-8bc7-46e2-87b1-c48b7a719ec4" providerId="ADAL" clId="{084D0019-9B8D-4261-A23E-3A5FC88DCC95}" dt="2024-05-28T13:22:54.714" v="19" actId="478"/>
          <ac:picMkLst>
            <pc:docMk/>
            <pc:sldMk cId="2334968861" sldId="257"/>
            <ac:picMk id="12" creationId="{B1ABC83A-B3A3-FAA2-3209-3593DCE8B9FE}"/>
          </ac:picMkLst>
        </pc:picChg>
        <pc:picChg chg="add del">
          <ac:chgData name="Banerji, Sujai" userId="d4c6db7f-8bc7-46e2-87b1-c48b7a719ec4" providerId="ADAL" clId="{084D0019-9B8D-4261-A23E-3A5FC88DCC95}" dt="2024-05-28T13:22:52.924" v="18" actId="478"/>
          <ac:picMkLst>
            <pc:docMk/>
            <pc:sldMk cId="2334968861" sldId="257"/>
            <ac:picMk id="14" creationId="{57E459E3-2B36-82A3-6A94-6CB5649C7E0F}"/>
          </ac:picMkLst>
        </pc:picChg>
        <pc:picChg chg="add">
          <ac:chgData name="Banerji, Sujai" userId="d4c6db7f-8bc7-46e2-87b1-c48b7a719ec4" providerId="ADAL" clId="{084D0019-9B8D-4261-A23E-3A5FC88DCC95}" dt="2024-05-28T14:24:49.948" v="20" actId="22"/>
          <ac:picMkLst>
            <pc:docMk/>
            <pc:sldMk cId="2334968861" sldId="257"/>
            <ac:picMk id="16" creationId="{E1C3DCB3-B5C6-84FB-E805-503AE4662DA6}"/>
          </ac:picMkLst>
        </pc:picChg>
      </pc:sldChg>
      <pc:sldChg chg="addSp delSp mod">
        <pc:chgData name="Banerji, Sujai" userId="d4c6db7f-8bc7-46e2-87b1-c48b7a719ec4" providerId="ADAL" clId="{084D0019-9B8D-4261-A23E-3A5FC88DCC95}" dt="2024-06-03T20:27:54.862" v="39" actId="21"/>
        <pc:sldMkLst>
          <pc:docMk/>
          <pc:sldMk cId="1524386701" sldId="263"/>
        </pc:sldMkLst>
        <pc:spChg chg="add del">
          <ac:chgData name="Banerji, Sujai" userId="d4c6db7f-8bc7-46e2-87b1-c48b7a719ec4" providerId="ADAL" clId="{084D0019-9B8D-4261-A23E-3A5FC88DCC95}" dt="2024-06-03T20:26:28.115" v="37" actId="22"/>
          <ac:spMkLst>
            <pc:docMk/>
            <pc:sldMk cId="1524386701" sldId="263"/>
            <ac:spMk id="4" creationId="{7A086504-E08E-850D-56FD-DC06A553D790}"/>
          </ac:spMkLst>
        </pc:spChg>
        <pc:picChg chg="add del">
          <ac:chgData name="Banerji, Sujai" userId="d4c6db7f-8bc7-46e2-87b1-c48b7a719ec4" providerId="ADAL" clId="{084D0019-9B8D-4261-A23E-3A5FC88DCC95}" dt="2024-06-03T20:27:54.862" v="39" actId="21"/>
          <ac:picMkLst>
            <pc:docMk/>
            <pc:sldMk cId="1524386701" sldId="263"/>
            <ac:picMk id="6" creationId="{DA970C4B-27B6-55E6-C478-ADEADED94FC1}"/>
          </ac:picMkLst>
        </pc:picChg>
      </pc:sldChg>
      <pc:sldChg chg="modSp mod">
        <pc:chgData name="Banerji, Sujai" userId="d4c6db7f-8bc7-46e2-87b1-c48b7a719ec4" providerId="ADAL" clId="{084D0019-9B8D-4261-A23E-3A5FC88DCC95}" dt="2024-05-13T20:11:05.983" v="1" actId="20577"/>
        <pc:sldMkLst>
          <pc:docMk/>
          <pc:sldMk cId="3525110398" sldId="270"/>
        </pc:sldMkLst>
        <pc:spChg chg="mod">
          <ac:chgData name="Banerji, Sujai" userId="d4c6db7f-8bc7-46e2-87b1-c48b7a719ec4" providerId="ADAL" clId="{084D0019-9B8D-4261-A23E-3A5FC88DCC95}" dt="2024-05-13T20:11:05.983" v="1" actId="20577"/>
          <ac:spMkLst>
            <pc:docMk/>
            <pc:sldMk cId="3525110398" sldId="270"/>
            <ac:spMk id="8" creationId="{4BE5EF4E-52E3-8473-F6A3-D9FF82B26651}"/>
          </ac:spMkLst>
        </pc:spChg>
      </pc:sldChg>
      <pc:sldChg chg="addSp delSp modSp mod setBg">
        <pc:chgData name="Banerji, Sujai" userId="d4c6db7f-8bc7-46e2-87b1-c48b7a719ec4" providerId="ADAL" clId="{084D0019-9B8D-4261-A23E-3A5FC88DCC95}" dt="2024-05-15T12:51:20.297" v="8" actId="21"/>
        <pc:sldMkLst>
          <pc:docMk/>
          <pc:sldMk cId="1872787299" sldId="271"/>
        </pc:sldMkLst>
        <pc:spChg chg="mod">
          <ac:chgData name="Banerji, Sujai" userId="d4c6db7f-8bc7-46e2-87b1-c48b7a719ec4" providerId="ADAL" clId="{084D0019-9B8D-4261-A23E-3A5FC88DCC95}" dt="2024-05-15T10:55:15.068" v="4" actId="26606"/>
          <ac:spMkLst>
            <pc:docMk/>
            <pc:sldMk cId="1872787299" sldId="271"/>
            <ac:spMk id="3" creationId="{66E2D6E3-B80B-4494-E967-A6665198845E}"/>
          </ac:spMkLst>
        </pc:spChg>
        <pc:spChg chg="add del">
          <ac:chgData name="Banerji, Sujai" userId="d4c6db7f-8bc7-46e2-87b1-c48b7a719ec4" providerId="ADAL" clId="{084D0019-9B8D-4261-A23E-3A5FC88DCC95}" dt="2024-05-15T10:55:15.068" v="4" actId="26606"/>
          <ac:spMkLst>
            <pc:docMk/>
            <pc:sldMk cId="1872787299" sldId="271"/>
            <ac:spMk id="12" creationId="{94BFCCA4-109C-4B21-816E-144FE75C38EE}"/>
          </ac:spMkLst>
        </pc:spChg>
        <pc:spChg chg="add del">
          <ac:chgData name="Banerji, Sujai" userId="d4c6db7f-8bc7-46e2-87b1-c48b7a719ec4" providerId="ADAL" clId="{084D0019-9B8D-4261-A23E-3A5FC88DCC95}" dt="2024-05-15T10:55:15.068" v="4" actId="26606"/>
          <ac:spMkLst>
            <pc:docMk/>
            <pc:sldMk cId="1872787299" sldId="271"/>
            <ac:spMk id="14" creationId="{0059B5C0-FEC8-4370-AF45-02E3AEF6FA6D}"/>
          </ac:spMkLst>
        </pc:spChg>
        <pc:picChg chg="mod">
          <ac:chgData name="Banerji, Sujai" userId="d4c6db7f-8bc7-46e2-87b1-c48b7a719ec4" providerId="ADAL" clId="{084D0019-9B8D-4261-A23E-3A5FC88DCC95}" dt="2024-05-15T10:55:15.068" v="4" actId="26606"/>
          <ac:picMkLst>
            <pc:docMk/>
            <pc:sldMk cId="1872787299" sldId="271"/>
            <ac:picMk id="2" creationId="{6D6EFB9C-8F69-8BFB-98FE-D52F054212A4}"/>
          </ac:picMkLst>
        </pc:picChg>
        <pc:picChg chg="mod ord">
          <ac:chgData name="Banerji, Sujai" userId="d4c6db7f-8bc7-46e2-87b1-c48b7a719ec4" providerId="ADAL" clId="{084D0019-9B8D-4261-A23E-3A5FC88DCC95}" dt="2024-05-15T10:55:15.068" v="4" actId="26606"/>
          <ac:picMkLst>
            <pc:docMk/>
            <pc:sldMk cId="1872787299" sldId="271"/>
            <ac:picMk id="5" creationId="{51DFBB07-1B9D-4185-CA8A-1937D1264B78}"/>
          </ac:picMkLst>
        </pc:picChg>
        <pc:picChg chg="mod ord">
          <ac:chgData name="Banerji, Sujai" userId="d4c6db7f-8bc7-46e2-87b1-c48b7a719ec4" providerId="ADAL" clId="{084D0019-9B8D-4261-A23E-3A5FC88DCC95}" dt="2024-05-15T10:55:15.068" v="4" actId="26606"/>
          <ac:picMkLst>
            <pc:docMk/>
            <pc:sldMk cId="1872787299" sldId="271"/>
            <ac:picMk id="6" creationId="{ED1DC5F7-CA30-644A-34DF-4EA2D24D89D7}"/>
          </ac:picMkLst>
        </pc:picChg>
        <pc:picChg chg="add del mod">
          <ac:chgData name="Banerji, Sujai" userId="d4c6db7f-8bc7-46e2-87b1-c48b7a719ec4" providerId="ADAL" clId="{084D0019-9B8D-4261-A23E-3A5FC88DCC95}" dt="2024-05-15T12:51:20.297" v="8" actId="21"/>
          <ac:picMkLst>
            <pc:docMk/>
            <pc:sldMk cId="1872787299" sldId="271"/>
            <ac:picMk id="7" creationId="{0E3A4B48-0A36-6597-22B8-56B60B57C6DC}"/>
          </ac:picMkLst>
        </pc:picChg>
        <pc:picChg chg="add del">
          <ac:chgData name="Banerji, Sujai" userId="d4c6db7f-8bc7-46e2-87b1-c48b7a719ec4" providerId="ADAL" clId="{084D0019-9B8D-4261-A23E-3A5FC88DCC95}" dt="2024-05-15T12:51:17.482" v="7" actId="21"/>
          <ac:picMkLst>
            <pc:docMk/>
            <pc:sldMk cId="1872787299" sldId="271"/>
            <ac:picMk id="9" creationId="{8D16ABB5-28C7-6D30-5131-77B2AD1B67F8}"/>
          </ac:picMkLst>
        </pc:picChg>
      </pc:sldChg>
      <pc:sldChg chg="addSp delSp modSp new mod setBg">
        <pc:chgData name="Banerji, Sujai" userId="d4c6db7f-8bc7-46e2-87b1-c48b7a719ec4" providerId="ADAL" clId="{084D0019-9B8D-4261-A23E-3A5FC88DCC95}" dt="2024-05-28T14:50:25.919" v="28" actId="22"/>
        <pc:sldMkLst>
          <pc:docMk/>
          <pc:sldMk cId="3454018952" sldId="272"/>
        </pc:sldMkLst>
        <pc:spChg chg="add del">
          <ac:chgData name="Banerji, Sujai" userId="d4c6db7f-8bc7-46e2-87b1-c48b7a719ec4" providerId="ADAL" clId="{084D0019-9B8D-4261-A23E-3A5FC88DCC95}" dt="2024-05-28T14:31:12.102" v="24" actId="26606"/>
          <ac:spMkLst>
            <pc:docMk/>
            <pc:sldMk cId="3454018952" sldId="272"/>
            <ac:spMk id="8" creationId="{F3060C83-F051-4F0E-ABAD-AA0DFC48B218}"/>
          </ac:spMkLst>
        </pc:spChg>
        <pc:spChg chg="add del">
          <ac:chgData name="Banerji, Sujai" userId="d4c6db7f-8bc7-46e2-87b1-c48b7a719ec4" providerId="ADAL" clId="{084D0019-9B8D-4261-A23E-3A5FC88DCC95}" dt="2024-05-28T14:31:12.102" v="24" actId="26606"/>
          <ac:spMkLst>
            <pc:docMk/>
            <pc:sldMk cId="3454018952" sldId="272"/>
            <ac:spMk id="10" creationId="{83C98ABE-055B-441F-B07E-44F97F083C39}"/>
          </ac:spMkLst>
        </pc:spChg>
        <pc:spChg chg="add del">
          <ac:chgData name="Banerji, Sujai" userId="d4c6db7f-8bc7-46e2-87b1-c48b7a719ec4" providerId="ADAL" clId="{084D0019-9B8D-4261-A23E-3A5FC88DCC95}" dt="2024-05-28T14:31:12.102" v="24" actId="26606"/>
          <ac:spMkLst>
            <pc:docMk/>
            <pc:sldMk cId="3454018952" sldId="272"/>
            <ac:spMk id="12" creationId="{29FDB030-9B49-4CED-8CCD-4D99382388AC}"/>
          </ac:spMkLst>
        </pc:spChg>
        <pc:spChg chg="add del">
          <ac:chgData name="Banerji, Sujai" userId="d4c6db7f-8bc7-46e2-87b1-c48b7a719ec4" providerId="ADAL" clId="{084D0019-9B8D-4261-A23E-3A5FC88DCC95}" dt="2024-05-28T14:31:12.102" v="24" actId="26606"/>
          <ac:spMkLst>
            <pc:docMk/>
            <pc:sldMk cId="3454018952" sldId="272"/>
            <ac:spMk id="14" creationId="{3783CA14-24A1-485C-8B30-D6A5D87987AD}"/>
          </ac:spMkLst>
        </pc:spChg>
        <pc:spChg chg="add del">
          <ac:chgData name="Banerji, Sujai" userId="d4c6db7f-8bc7-46e2-87b1-c48b7a719ec4" providerId="ADAL" clId="{084D0019-9B8D-4261-A23E-3A5FC88DCC95}" dt="2024-05-28T14:31:12.102" v="24" actId="26606"/>
          <ac:spMkLst>
            <pc:docMk/>
            <pc:sldMk cId="3454018952" sldId="272"/>
            <ac:spMk id="16" creationId="{9A97C86A-04D6-40F7-AE84-31AB43E6A846}"/>
          </ac:spMkLst>
        </pc:spChg>
        <pc:spChg chg="add del">
          <ac:chgData name="Banerji, Sujai" userId="d4c6db7f-8bc7-46e2-87b1-c48b7a719ec4" providerId="ADAL" clId="{084D0019-9B8D-4261-A23E-3A5FC88DCC95}" dt="2024-05-28T14:31:12.102" v="24" actId="26606"/>
          <ac:spMkLst>
            <pc:docMk/>
            <pc:sldMk cId="3454018952" sldId="272"/>
            <ac:spMk id="18" creationId="{FF9F2414-84E8-453E-B1F3-389FDE8192D9}"/>
          </ac:spMkLst>
        </pc:spChg>
        <pc:spChg chg="add del">
          <ac:chgData name="Banerji, Sujai" userId="d4c6db7f-8bc7-46e2-87b1-c48b7a719ec4" providerId="ADAL" clId="{084D0019-9B8D-4261-A23E-3A5FC88DCC95}" dt="2024-05-28T14:31:12.102" v="24" actId="26606"/>
          <ac:spMkLst>
            <pc:docMk/>
            <pc:sldMk cId="3454018952" sldId="272"/>
            <ac:spMk id="20" creationId="{3ECA69A1-7536-43AC-85EF-C7106179F5ED}"/>
          </ac:spMkLst>
        </pc:spChg>
        <pc:picChg chg="add del mod">
          <ac:chgData name="Banerji, Sujai" userId="d4c6db7f-8bc7-46e2-87b1-c48b7a719ec4" providerId="ADAL" clId="{084D0019-9B8D-4261-A23E-3A5FC88DCC95}" dt="2024-05-28T14:32:07.693" v="25" actId="478"/>
          <ac:picMkLst>
            <pc:docMk/>
            <pc:sldMk cId="3454018952" sldId="272"/>
            <ac:picMk id="3" creationId="{E9C3FA88-DD54-0269-AF63-9FBF891C870E}"/>
          </ac:picMkLst>
        </pc:picChg>
        <pc:picChg chg="add del">
          <ac:chgData name="Banerji, Sujai" userId="d4c6db7f-8bc7-46e2-87b1-c48b7a719ec4" providerId="ADAL" clId="{084D0019-9B8D-4261-A23E-3A5FC88DCC95}" dt="2024-05-28T14:41:54.790" v="27" actId="478"/>
          <ac:picMkLst>
            <pc:docMk/>
            <pc:sldMk cId="3454018952" sldId="272"/>
            <ac:picMk id="5" creationId="{13D13E2E-BE51-E20C-1671-D8506AE7848C}"/>
          </ac:picMkLst>
        </pc:picChg>
        <pc:picChg chg="add">
          <ac:chgData name="Banerji, Sujai" userId="d4c6db7f-8bc7-46e2-87b1-c48b7a719ec4" providerId="ADAL" clId="{084D0019-9B8D-4261-A23E-3A5FC88DCC95}" dt="2024-05-28T14:50:25.919" v="28" actId="22"/>
          <ac:picMkLst>
            <pc:docMk/>
            <pc:sldMk cId="3454018952" sldId="272"/>
            <ac:picMk id="7" creationId="{F7EBC940-38D7-04D7-0298-E3C167D1E063}"/>
          </ac:picMkLst>
        </pc:picChg>
      </pc:sldChg>
      <pc:sldChg chg="addSp new mod ord">
        <pc:chgData name="Banerji, Sujai" userId="d4c6db7f-8bc7-46e2-87b1-c48b7a719ec4" providerId="ADAL" clId="{084D0019-9B8D-4261-A23E-3A5FC88DCC95}" dt="2024-05-28T15:01:28.018" v="35"/>
        <pc:sldMkLst>
          <pc:docMk/>
          <pc:sldMk cId="625983060" sldId="273"/>
        </pc:sldMkLst>
        <pc:picChg chg="add">
          <ac:chgData name="Banerji, Sujai" userId="d4c6db7f-8bc7-46e2-87b1-c48b7a719ec4" providerId="ADAL" clId="{084D0019-9B8D-4261-A23E-3A5FC88DCC95}" dt="2024-05-28T14:50:41.780" v="30" actId="22"/>
          <ac:picMkLst>
            <pc:docMk/>
            <pc:sldMk cId="625983060" sldId="273"/>
            <ac:picMk id="3" creationId="{2C5B86F6-C617-BA41-F3A3-A30B16B327BA}"/>
          </ac:picMkLst>
        </pc:picChg>
      </pc:sldChg>
      <pc:sldChg chg="addSp new del mod">
        <pc:chgData name="Banerji, Sujai" userId="d4c6db7f-8bc7-46e2-87b1-c48b7a719ec4" providerId="ADAL" clId="{084D0019-9B8D-4261-A23E-3A5FC88DCC95}" dt="2024-05-28T15:01:22.164" v="33" actId="47"/>
        <pc:sldMkLst>
          <pc:docMk/>
          <pc:sldMk cId="1702325095" sldId="274"/>
        </pc:sldMkLst>
        <pc:picChg chg="add">
          <ac:chgData name="Banerji, Sujai" userId="d4c6db7f-8bc7-46e2-87b1-c48b7a719ec4" providerId="ADAL" clId="{084D0019-9B8D-4261-A23E-3A5FC88DCC95}" dt="2024-05-28T15:01:01.515" v="32" actId="22"/>
          <ac:picMkLst>
            <pc:docMk/>
            <pc:sldMk cId="1702325095" sldId="274"/>
            <ac:picMk id="3" creationId="{F1172930-D974-DABD-17F3-9B133AD14654}"/>
          </ac:picMkLst>
        </pc:picChg>
      </pc:sldChg>
    </pc:docChg>
  </pc:docChgLst>
  <pc:docChgLst>
    <pc:chgData name="Banerji, Sujai" userId="S::sujaiban@ad.helsinki.fi::d4c6db7f-8bc7-46e2-87b1-c48b7a719ec4" providerId="AD" clId="Web-{098C4D7C-2278-E8E3-687A-1E6253759344}"/>
    <pc:docChg chg="modSld">
      <pc:chgData name="Banerji, Sujai" userId="S::sujaiban@ad.helsinki.fi::d4c6db7f-8bc7-46e2-87b1-c48b7a719ec4" providerId="AD" clId="Web-{098C4D7C-2278-E8E3-687A-1E6253759344}" dt="2024-05-13T17:58:11.201" v="13" actId="20577"/>
      <pc:docMkLst>
        <pc:docMk/>
      </pc:docMkLst>
      <pc:sldChg chg="modSp">
        <pc:chgData name="Banerji, Sujai" userId="S::sujaiban@ad.helsinki.fi::d4c6db7f-8bc7-46e2-87b1-c48b7a719ec4" providerId="AD" clId="Web-{098C4D7C-2278-E8E3-687A-1E6253759344}" dt="2024-05-13T17:58:11.201" v="13" actId="20577"/>
        <pc:sldMkLst>
          <pc:docMk/>
          <pc:sldMk cId="3728580942" sldId="256"/>
        </pc:sldMkLst>
        <pc:spChg chg="mod">
          <ac:chgData name="Banerji, Sujai" userId="S::sujaiban@ad.helsinki.fi::d4c6db7f-8bc7-46e2-87b1-c48b7a719ec4" providerId="AD" clId="Web-{098C4D7C-2278-E8E3-687A-1E6253759344}" dt="2024-05-13T17:58:11.201" v="13" actId="20577"/>
          <ac:spMkLst>
            <pc:docMk/>
            <pc:sldMk cId="3728580942" sldId="256"/>
            <ac:spMk id="20" creationId="{20782C7C-FBD4-71F1-02D6-E329D20036F6}"/>
          </ac:spMkLst>
        </pc:spChg>
        <pc:picChg chg="mod">
          <ac:chgData name="Banerji, Sujai" userId="S::sujaiban@ad.helsinki.fi::d4c6db7f-8bc7-46e2-87b1-c48b7a719ec4" providerId="AD" clId="Web-{098C4D7C-2278-E8E3-687A-1E6253759344}" dt="2024-05-13T17:57:58.279" v="8" actId="14100"/>
          <ac:picMkLst>
            <pc:docMk/>
            <pc:sldMk cId="3728580942" sldId="256"/>
            <ac:picMk id="1026" creationId="{0DBC6646-22B7-0763-E8AF-745E87B56362}"/>
          </ac:picMkLst>
        </pc:picChg>
      </pc:sldChg>
    </pc:docChg>
  </pc:docChgLst>
  <pc:docChgLst>
    <pc:chgData name="Banerji, Sujai" userId="S::sujaiban@ad.helsinki.fi::d4c6db7f-8bc7-46e2-87b1-c48b7a719ec4" providerId="AD" clId="Web-{A5B01701-04C3-EE9C-B8B3-24225231D801}"/>
    <pc:docChg chg="modSld">
      <pc:chgData name="Banerji, Sujai" userId="S::sujaiban@ad.helsinki.fi::d4c6db7f-8bc7-46e2-87b1-c48b7a719ec4" providerId="AD" clId="Web-{A5B01701-04C3-EE9C-B8B3-24225231D801}" dt="2024-05-13T19:50:43.346" v="123" actId="14100"/>
      <pc:docMkLst>
        <pc:docMk/>
      </pc:docMkLst>
      <pc:sldChg chg="addSp modSp">
        <pc:chgData name="Banerji, Sujai" userId="S::sujaiban@ad.helsinki.fi::d4c6db7f-8bc7-46e2-87b1-c48b7a719ec4" providerId="AD" clId="Web-{A5B01701-04C3-EE9C-B8B3-24225231D801}" dt="2024-05-13T18:01:28.523" v="66" actId="1076"/>
        <pc:sldMkLst>
          <pc:docMk/>
          <pc:sldMk cId="3728580942" sldId="256"/>
        </pc:sldMkLst>
        <pc:spChg chg="add mod">
          <ac:chgData name="Banerji, Sujai" userId="S::sujaiban@ad.helsinki.fi::d4c6db7f-8bc7-46e2-87b1-c48b7a719ec4" providerId="AD" clId="Web-{A5B01701-04C3-EE9C-B8B3-24225231D801}" dt="2024-05-13T18:01:28.523" v="66" actId="1076"/>
          <ac:spMkLst>
            <pc:docMk/>
            <pc:sldMk cId="3728580942" sldId="256"/>
            <ac:spMk id="2" creationId="{91B46BE1-CFE2-69F4-0A9E-8B673495D963}"/>
          </ac:spMkLst>
        </pc:spChg>
        <pc:spChg chg="mod">
          <ac:chgData name="Banerji, Sujai" userId="S::sujaiban@ad.helsinki.fi::d4c6db7f-8bc7-46e2-87b1-c48b7a719ec4" providerId="AD" clId="Web-{A5B01701-04C3-EE9C-B8B3-24225231D801}" dt="2024-05-13T17:59:43.896" v="16" actId="20577"/>
          <ac:spMkLst>
            <pc:docMk/>
            <pc:sldMk cId="3728580942" sldId="256"/>
            <ac:spMk id="20" creationId="{20782C7C-FBD4-71F1-02D6-E329D20036F6}"/>
          </ac:spMkLst>
        </pc:spChg>
      </pc:sldChg>
      <pc:sldChg chg="modSp">
        <pc:chgData name="Banerji, Sujai" userId="S::sujaiban@ad.helsinki.fi::d4c6db7f-8bc7-46e2-87b1-c48b7a719ec4" providerId="AD" clId="Web-{A5B01701-04C3-EE9C-B8B3-24225231D801}" dt="2024-05-13T18:05:16.684" v="85" actId="14100"/>
        <pc:sldMkLst>
          <pc:docMk/>
          <pc:sldMk cId="2334968861" sldId="257"/>
        </pc:sldMkLst>
        <pc:picChg chg="mod">
          <ac:chgData name="Banerji, Sujai" userId="S::sujaiban@ad.helsinki.fi::d4c6db7f-8bc7-46e2-87b1-c48b7a719ec4" providerId="AD" clId="Web-{A5B01701-04C3-EE9C-B8B3-24225231D801}" dt="2024-05-13T18:05:16.684" v="85" actId="14100"/>
          <ac:picMkLst>
            <pc:docMk/>
            <pc:sldMk cId="2334968861" sldId="257"/>
            <ac:picMk id="8" creationId="{93A13E08-9889-3668-E8BD-5347B1C2DFF7}"/>
          </ac:picMkLst>
        </pc:picChg>
      </pc:sldChg>
      <pc:sldChg chg="addSp modSp">
        <pc:chgData name="Banerji, Sujai" userId="S::sujaiban@ad.helsinki.fi::d4c6db7f-8bc7-46e2-87b1-c48b7a719ec4" providerId="AD" clId="Web-{A5B01701-04C3-EE9C-B8B3-24225231D801}" dt="2024-05-13T18:13:06.959" v="100" actId="20577"/>
        <pc:sldMkLst>
          <pc:docMk/>
          <pc:sldMk cId="1524386701" sldId="263"/>
        </pc:sldMkLst>
        <pc:spChg chg="add mod">
          <ac:chgData name="Banerji, Sujai" userId="S::sujaiban@ad.helsinki.fi::d4c6db7f-8bc7-46e2-87b1-c48b7a719ec4" providerId="AD" clId="Web-{A5B01701-04C3-EE9C-B8B3-24225231D801}" dt="2024-05-13T18:13:06.959" v="100" actId="20577"/>
          <ac:spMkLst>
            <pc:docMk/>
            <pc:sldMk cId="1524386701" sldId="263"/>
            <ac:spMk id="3" creationId="{C829E799-FE6C-8776-E2EE-8E51418E1755}"/>
          </ac:spMkLst>
        </pc:spChg>
      </pc:sldChg>
      <pc:sldChg chg="modSp">
        <pc:chgData name="Banerji, Sujai" userId="S::sujaiban@ad.helsinki.fi::d4c6db7f-8bc7-46e2-87b1-c48b7a719ec4" providerId="AD" clId="Web-{A5B01701-04C3-EE9C-B8B3-24225231D801}" dt="2024-05-13T18:05:29.590" v="87" actId="14100"/>
        <pc:sldMkLst>
          <pc:docMk/>
          <pc:sldMk cId="2000040501" sldId="269"/>
        </pc:sldMkLst>
        <pc:spChg chg="mod">
          <ac:chgData name="Banerji, Sujai" userId="S::sujaiban@ad.helsinki.fi::d4c6db7f-8bc7-46e2-87b1-c48b7a719ec4" providerId="AD" clId="Web-{A5B01701-04C3-EE9C-B8B3-24225231D801}" dt="2024-05-13T18:05:29.590" v="87" actId="14100"/>
          <ac:spMkLst>
            <pc:docMk/>
            <pc:sldMk cId="2000040501" sldId="269"/>
            <ac:spMk id="5" creationId="{0D34B9E9-B1A8-BCDB-B75A-615DC88CC3CD}"/>
          </ac:spMkLst>
        </pc:spChg>
      </pc:sldChg>
      <pc:sldChg chg="addSp modSp">
        <pc:chgData name="Banerji, Sujai" userId="S::sujaiban@ad.helsinki.fi::d4c6db7f-8bc7-46e2-87b1-c48b7a719ec4" providerId="AD" clId="Web-{A5B01701-04C3-EE9C-B8B3-24225231D801}" dt="2024-05-13T18:13:58.038" v="106" actId="20577"/>
        <pc:sldMkLst>
          <pc:docMk/>
          <pc:sldMk cId="3525110398" sldId="270"/>
        </pc:sldMkLst>
        <pc:spChg chg="add mod">
          <ac:chgData name="Banerji, Sujai" userId="S::sujaiban@ad.helsinki.fi::d4c6db7f-8bc7-46e2-87b1-c48b7a719ec4" providerId="AD" clId="Web-{A5B01701-04C3-EE9C-B8B3-24225231D801}" dt="2024-05-13T18:12:33.458" v="94" actId="14100"/>
          <ac:spMkLst>
            <pc:docMk/>
            <pc:sldMk cId="3525110398" sldId="270"/>
            <ac:spMk id="2" creationId="{0A7557AA-D275-BCCE-5020-548AEB4F8061}"/>
          </ac:spMkLst>
        </pc:spChg>
        <pc:spChg chg="mod">
          <ac:chgData name="Banerji, Sujai" userId="S::sujaiban@ad.helsinki.fi::d4c6db7f-8bc7-46e2-87b1-c48b7a719ec4" providerId="AD" clId="Web-{A5B01701-04C3-EE9C-B8B3-24225231D801}" dt="2024-05-13T18:13:58.038" v="106" actId="20577"/>
          <ac:spMkLst>
            <pc:docMk/>
            <pc:sldMk cId="3525110398" sldId="270"/>
            <ac:spMk id="6" creationId="{DFF58514-7BE4-3848-7EC3-D231CFDDB082}"/>
          </ac:spMkLst>
        </pc:spChg>
      </pc:sldChg>
      <pc:sldChg chg="addSp modSp">
        <pc:chgData name="Banerji, Sujai" userId="S::sujaiban@ad.helsinki.fi::d4c6db7f-8bc7-46e2-87b1-c48b7a719ec4" providerId="AD" clId="Web-{A5B01701-04C3-EE9C-B8B3-24225231D801}" dt="2024-05-13T19:50:43.346" v="123" actId="14100"/>
        <pc:sldMkLst>
          <pc:docMk/>
          <pc:sldMk cId="1872787299" sldId="271"/>
        </pc:sldMkLst>
        <pc:spChg chg="add mod">
          <ac:chgData name="Banerji, Sujai" userId="S::sujaiban@ad.helsinki.fi::d4c6db7f-8bc7-46e2-87b1-c48b7a719ec4" providerId="AD" clId="Web-{A5B01701-04C3-EE9C-B8B3-24225231D801}" dt="2024-05-13T18:12:52.584" v="97" actId="20577"/>
          <ac:spMkLst>
            <pc:docMk/>
            <pc:sldMk cId="1872787299" sldId="271"/>
            <ac:spMk id="3" creationId="{66E2D6E3-B80B-4494-E967-A6665198845E}"/>
          </ac:spMkLst>
        </pc:spChg>
        <pc:picChg chg="add mod">
          <ac:chgData name="Banerji, Sujai" userId="S::sujaiban@ad.helsinki.fi::d4c6db7f-8bc7-46e2-87b1-c48b7a719ec4" providerId="AD" clId="Web-{A5B01701-04C3-EE9C-B8B3-24225231D801}" dt="2024-05-13T19:50:43.346" v="123" actId="14100"/>
          <ac:picMkLst>
            <pc:docMk/>
            <pc:sldMk cId="1872787299" sldId="271"/>
            <ac:picMk id="2" creationId="{6D6EFB9C-8F69-8BFB-98FE-D52F054212A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056F3-C53D-4EA3-B83A-93682D4B5265}" type="datetimeFigureOut">
              <a:rPr lang="fi-FI" smtClean="0"/>
              <a:t>14.5.2026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EF3FA-3D1A-4FD8-99F0-342E9685710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28909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decreasing CS indicates fewer opportunities for aerosol particles to grow through gas-to-particle conversion processes. So, for SMEAR II point 2</a:t>
            </a:r>
            <a:endParaRPr lang="fi-F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i-F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dirty="0"/>
              <a:t>Point 3 </a:t>
            </a:r>
            <a:r>
              <a:rPr lang="en-US" sz="12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suggests that absorbing materials like Black Carbon (BC) and Brown Carbon (</a:t>
            </a:r>
            <a:r>
              <a:rPr lang="en-US" sz="1200" b="0" i="0" dirty="0" err="1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BrC</a:t>
            </a:r>
            <a:r>
              <a:rPr lang="en-US" sz="12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) diminished more rapidly than scattering materials such as sulfate, which can form a coating around an absorbing particle to enhance absorption due to the lensing effect (Luoma et al., 2019).</a:t>
            </a:r>
            <a:endParaRPr lang="en-US" sz="120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EF3FA-3D1A-4FD8-99F0-342E9685710F}" type="slidenum">
              <a:rPr lang="fi-FI" smtClean="0"/>
              <a:t>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93164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EF3FA-3D1A-4FD8-99F0-342E9685710F}" type="slidenum">
              <a:rPr lang="fi-FI" smtClean="0"/>
              <a:t>8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6660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 err="1"/>
              <a:t>The</a:t>
            </a:r>
            <a:r>
              <a:rPr lang="fi-FI" dirty="0"/>
              <a:t> SSA and </a:t>
            </a:r>
            <a:r>
              <a:rPr lang="fi-FI" dirty="0" err="1"/>
              <a:t>the</a:t>
            </a:r>
            <a:r>
              <a:rPr lang="fi-FI" dirty="0"/>
              <a:t> b in </a:t>
            </a:r>
            <a:r>
              <a:rPr lang="fi-FI" dirty="0" err="1"/>
              <a:t>the</a:t>
            </a:r>
            <a:r>
              <a:rPr lang="fi-FI" dirty="0"/>
              <a:t> PM</a:t>
            </a:r>
            <a:r>
              <a:rPr lang="fi-FI" baseline="-25000" dirty="0"/>
              <a:t>10 </a:t>
            </a:r>
            <a:r>
              <a:rPr lang="fi-FI" baseline="0" dirty="0"/>
              <a:t>and</a:t>
            </a:r>
            <a:r>
              <a:rPr lang="fi-FI" baseline="-25000" dirty="0"/>
              <a:t> </a:t>
            </a:r>
            <a:r>
              <a:rPr lang="fi-FI" baseline="0" dirty="0" err="1"/>
              <a:t>the</a:t>
            </a:r>
            <a:r>
              <a:rPr lang="fi-FI" baseline="-25000" dirty="0"/>
              <a:t> </a:t>
            </a:r>
            <a:r>
              <a:rPr lang="fi-FI" baseline="0" dirty="0" err="1"/>
              <a:t>supermicron</a:t>
            </a:r>
            <a:r>
              <a:rPr lang="fi-FI" baseline="-25000" dirty="0"/>
              <a:t> </a:t>
            </a:r>
            <a:r>
              <a:rPr lang="fi-FI" baseline="0" dirty="0" err="1"/>
              <a:t>fractions</a:t>
            </a:r>
            <a:r>
              <a:rPr lang="fi-FI" baseline="-25000" dirty="0"/>
              <a:t> </a:t>
            </a:r>
            <a:r>
              <a:rPr lang="fi-FI" baseline="0" dirty="0" err="1"/>
              <a:t>also</a:t>
            </a:r>
            <a:r>
              <a:rPr lang="fi-FI" baseline="0" dirty="0"/>
              <a:t> </a:t>
            </a:r>
            <a:r>
              <a:rPr lang="fi-FI" baseline="0" dirty="0" err="1"/>
              <a:t>suggest</a:t>
            </a:r>
            <a:r>
              <a:rPr lang="en-US" b="0" i="0" dirty="0">
                <a:solidFill>
                  <a:srgbClr val="343541"/>
                </a:solidFill>
                <a:effectLst/>
                <a:latin typeface="Avenir"/>
              </a:rPr>
              <a:t> that the aerosol size distribution consists predominantly of submicron aerosol particles. A similar trend was also reported by Luoma et al., 2019 for SMEAR II.</a:t>
            </a:r>
            <a:endParaRPr lang="fi-FI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EF3FA-3D1A-4FD8-99F0-342E9685710F}" type="slidenum">
              <a:rPr lang="fi-FI" smtClean="0"/>
              <a:t>11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70371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 err="1"/>
              <a:t>During</a:t>
            </a:r>
            <a:r>
              <a:rPr lang="fi-FI" dirty="0"/>
              <a:t> </a:t>
            </a:r>
            <a:r>
              <a:rPr lang="fi-FI" dirty="0" err="1"/>
              <a:t>May</a:t>
            </a:r>
            <a:r>
              <a:rPr lang="fi-FI" dirty="0"/>
              <a:t>, </a:t>
            </a:r>
            <a:r>
              <a:rPr lang="fi-FI" dirty="0" err="1"/>
              <a:t>the</a:t>
            </a:r>
            <a:r>
              <a:rPr lang="fi-FI" dirty="0"/>
              <a:t> PM </a:t>
            </a:r>
            <a:r>
              <a:rPr lang="fi-FI" dirty="0" err="1"/>
              <a:t>mass</a:t>
            </a:r>
            <a:r>
              <a:rPr lang="fi-FI" dirty="0"/>
              <a:t> of </a:t>
            </a:r>
            <a:r>
              <a:rPr lang="fi-FI" dirty="0" err="1"/>
              <a:t>submicron</a:t>
            </a:r>
            <a:r>
              <a:rPr lang="fi-FI" dirty="0"/>
              <a:t> and </a:t>
            </a:r>
            <a:r>
              <a:rPr lang="fi-FI" dirty="0" err="1"/>
              <a:t>supermicron</a:t>
            </a:r>
            <a:r>
              <a:rPr lang="fi-FI" dirty="0"/>
              <a:t> </a:t>
            </a:r>
            <a:r>
              <a:rPr lang="fi-FI" dirty="0" err="1"/>
              <a:t>aerosol</a:t>
            </a:r>
            <a:r>
              <a:rPr lang="fi-FI" dirty="0"/>
              <a:t> </a:t>
            </a:r>
            <a:r>
              <a:rPr lang="fi-FI" dirty="0" err="1"/>
              <a:t>particles</a:t>
            </a:r>
            <a:r>
              <a:rPr lang="fi-FI" dirty="0"/>
              <a:t> is </a:t>
            </a:r>
            <a:r>
              <a:rPr lang="fi-FI" dirty="0" err="1"/>
              <a:t>almost</a:t>
            </a:r>
            <a:r>
              <a:rPr lang="fi-FI" dirty="0"/>
              <a:t> </a:t>
            </a:r>
            <a:r>
              <a:rPr lang="fi-FI" dirty="0" err="1"/>
              <a:t>equal</a:t>
            </a:r>
            <a:r>
              <a:rPr lang="fi-FI" dirty="0"/>
              <a:t>. </a:t>
            </a:r>
            <a:r>
              <a:rPr lang="fi-FI" dirty="0" err="1"/>
              <a:t>Also</a:t>
            </a:r>
            <a:r>
              <a:rPr lang="fi-FI" dirty="0"/>
              <a:t>, in </a:t>
            </a:r>
            <a:r>
              <a:rPr lang="fi-FI" dirty="0" err="1"/>
              <a:t>recent</a:t>
            </a:r>
            <a:r>
              <a:rPr lang="fi-FI" dirty="0"/>
              <a:t> </a:t>
            </a:r>
            <a:r>
              <a:rPr lang="fi-FI" dirty="0" err="1"/>
              <a:t>years</a:t>
            </a:r>
            <a:r>
              <a:rPr lang="fi-FI" dirty="0"/>
              <a:t>, </a:t>
            </a:r>
            <a:r>
              <a:rPr lang="fi-FI" dirty="0" err="1"/>
              <a:t>dust</a:t>
            </a:r>
            <a:r>
              <a:rPr lang="fi-FI" dirty="0"/>
              <a:t> </a:t>
            </a:r>
            <a:r>
              <a:rPr lang="fi-FI" dirty="0" err="1"/>
              <a:t>events</a:t>
            </a:r>
            <a:r>
              <a:rPr lang="fi-FI" dirty="0"/>
              <a:t> </a:t>
            </a:r>
            <a:r>
              <a:rPr lang="fi-FI" dirty="0" err="1"/>
              <a:t>have</a:t>
            </a:r>
            <a:r>
              <a:rPr lang="fi-FI" dirty="0"/>
              <a:t> </a:t>
            </a:r>
            <a:r>
              <a:rPr lang="fi-FI" dirty="0" err="1"/>
              <a:t>become</a:t>
            </a:r>
            <a:r>
              <a:rPr lang="fi-FI" dirty="0"/>
              <a:t> </a:t>
            </a:r>
            <a:r>
              <a:rPr lang="fi-FI" dirty="0" err="1"/>
              <a:t>more</a:t>
            </a:r>
            <a:r>
              <a:rPr lang="fi-FI" dirty="0"/>
              <a:t> </a:t>
            </a:r>
            <a:r>
              <a:rPr lang="fi-FI" dirty="0" err="1"/>
              <a:t>prevalent</a:t>
            </a:r>
            <a:r>
              <a:rPr lang="fi-FI" dirty="0"/>
              <a:t> (i.e. </a:t>
            </a:r>
            <a:r>
              <a:rPr lang="fi-FI" dirty="0" err="1"/>
              <a:t>almost</a:t>
            </a:r>
            <a:r>
              <a:rPr lang="fi-FI" dirty="0"/>
              <a:t> 60%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dust</a:t>
            </a:r>
            <a:r>
              <a:rPr lang="fi-FI" dirty="0"/>
              <a:t> </a:t>
            </a:r>
            <a:r>
              <a:rPr lang="fi-FI" dirty="0" err="1"/>
              <a:t>events</a:t>
            </a:r>
            <a:r>
              <a:rPr lang="fi-FI" dirty="0"/>
              <a:t> </a:t>
            </a:r>
            <a:r>
              <a:rPr lang="fi-FI" dirty="0" err="1"/>
              <a:t>between</a:t>
            </a:r>
            <a:r>
              <a:rPr lang="fi-FI" dirty="0"/>
              <a:t> 1982-2022 </a:t>
            </a:r>
            <a:r>
              <a:rPr lang="fi-FI" dirty="0" err="1"/>
              <a:t>with</a:t>
            </a:r>
            <a:r>
              <a:rPr lang="fi-FI" dirty="0"/>
              <a:t> an </a:t>
            </a:r>
            <a:r>
              <a:rPr lang="fi-FI" dirty="0" err="1"/>
              <a:t>almost</a:t>
            </a:r>
            <a:r>
              <a:rPr lang="fi-FI" dirty="0"/>
              <a:t> </a:t>
            </a:r>
            <a:r>
              <a:rPr lang="fi-FI" dirty="0" err="1"/>
              <a:t>doubling</a:t>
            </a:r>
            <a:r>
              <a:rPr lang="fi-FI" dirty="0"/>
              <a:t> </a:t>
            </a:r>
            <a:r>
              <a:rPr lang="fi-FI" dirty="0" err="1"/>
              <a:t>dust</a:t>
            </a:r>
            <a:r>
              <a:rPr lang="fi-FI" dirty="0"/>
              <a:t> </a:t>
            </a:r>
            <a:r>
              <a:rPr lang="fi-FI" dirty="0" err="1"/>
              <a:t>storms</a:t>
            </a:r>
            <a:r>
              <a:rPr lang="fi-FI" dirty="0"/>
              <a:t>  </a:t>
            </a:r>
            <a:r>
              <a:rPr lang="fi-FI" dirty="0" err="1"/>
              <a:t>since</a:t>
            </a:r>
            <a:r>
              <a:rPr lang="fi-FI" dirty="0"/>
              <a:t> 2010) (</a:t>
            </a:r>
            <a:r>
              <a:rPr lang="fi-FI" dirty="0" err="1"/>
              <a:t>Verga</a:t>
            </a:r>
            <a:r>
              <a:rPr lang="fi-FI" dirty="0"/>
              <a:t> et al., 2023). </a:t>
            </a:r>
          </a:p>
          <a:p>
            <a:endParaRPr lang="fi-FI" dirty="0"/>
          </a:p>
          <a:p>
            <a:r>
              <a:rPr lang="fi-FI" dirty="0" err="1"/>
              <a:t>But</a:t>
            </a:r>
            <a:r>
              <a:rPr lang="fi-FI" dirty="0"/>
              <a:t> </a:t>
            </a:r>
            <a:r>
              <a:rPr lang="fi-FI" dirty="0" err="1"/>
              <a:t>this</a:t>
            </a:r>
            <a:r>
              <a:rPr lang="fi-FI" dirty="0"/>
              <a:t> </a:t>
            </a:r>
            <a:r>
              <a:rPr lang="fi-FI" dirty="0" err="1"/>
              <a:t>little</a:t>
            </a:r>
            <a:r>
              <a:rPr lang="fi-FI" dirty="0"/>
              <a:t> </a:t>
            </a:r>
            <a:r>
              <a:rPr lang="fi-FI" dirty="0" err="1"/>
              <a:t>effect</a:t>
            </a:r>
            <a:r>
              <a:rPr lang="fi-FI" dirty="0"/>
              <a:t> is </a:t>
            </a:r>
            <a:r>
              <a:rPr lang="fi-FI" dirty="0" err="1"/>
              <a:t>important</a:t>
            </a:r>
            <a:r>
              <a:rPr lang="fi-FI" dirty="0"/>
              <a:t> for </a:t>
            </a:r>
            <a:r>
              <a:rPr lang="fi-FI" dirty="0" err="1"/>
              <a:t>optical</a:t>
            </a:r>
            <a:r>
              <a:rPr lang="fi-FI" dirty="0"/>
              <a:t> </a:t>
            </a:r>
            <a:r>
              <a:rPr lang="fi-FI" dirty="0" err="1"/>
              <a:t>closure</a:t>
            </a:r>
            <a:r>
              <a:rPr lang="fi-FI" dirty="0"/>
              <a:t> </a:t>
            </a:r>
            <a:r>
              <a:rPr lang="fi-FI" dirty="0" err="1"/>
              <a:t>studies</a:t>
            </a:r>
            <a:r>
              <a:rPr lang="fi-FI" dirty="0"/>
              <a:t>.  </a:t>
            </a:r>
          </a:p>
          <a:p>
            <a:endParaRPr lang="fi-FI" dirty="0"/>
          </a:p>
          <a:p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have</a:t>
            </a:r>
            <a:r>
              <a:rPr lang="fi-FI" dirty="0"/>
              <a:t> </a:t>
            </a:r>
            <a:r>
              <a:rPr lang="fi-FI" dirty="0" err="1"/>
              <a:t>impactor</a:t>
            </a:r>
            <a:r>
              <a:rPr lang="fi-FI" dirty="0"/>
              <a:t> </a:t>
            </a:r>
            <a:r>
              <a:rPr lang="fi-FI" dirty="0" err="1"/>
              <a:t>measurements</a:t>
            </a:r>
            <a:r>
              <a:rPr lang="fi-FI" dirty="0"/>
              <a:t> for </a:t>
            </a:r>
            <a:r>
              <a:rPr lang="fi-FI" dirty="0" err="1"/>
              <a:t>the</a:t>
            </a:r>
            <a:r>
              <a:rPr lang="fi-FI" dirty="0"/>
              <a:t> super-PM</a:t>
            </a:r>
            <a:r>
              <a:rPr lang="fi-FI" baseline="-25000" dirty="0"/>
              <a:t>10</a:t>
            </a:r>
            <a:r>
              <a:rPr lang="fi-FI" dirty="0"/>
              <a:t> </a:t>
            </a:r>
            <a:r>
              <a:rPr lang="fi-FI" dirty="0" err="1"/>
              <a:t>aerosol</a:t>
            </a:r>
            <a:r>
              <a:rPr lang="fi-FI" dirty="0"/>
              <a:t> </a:t>
            </a:r>
            <a:r>
              <a:rPr lang="fi-FI" dirty="0" err="1"/>
              <a:t>particles</a:t>
            </a:r>
            <a:r>
              <a:rPr lang="fi-FI" dirty="0"/>
              <a:t> </a:t>
            </a:r>
            <a:r>
              <a:rPr lang="fi-FI" dirty="0" err="1"/>
              <a:t>also</a:t>
            </a:r>
            <a:r>
              <a:rPr lang="fi-FI" dirty="0"/>
              <a:t>, </a:t>
            </a:r>
            <a:r>
              <a:rPr lang="fi-FI" dirty="0" err="1"/>
              <a:t>but</a:t>
            </a:r>
            <a:r>
              <a:rPr lang="fi-FI" dirty="0"/>
              <a:t> </a:t>
            </a:r>
            <a:r>
              <a:rPr lang="fi-FI" dirty="0" err="1"/>
              <a:t>then</a:t>
            </a:r>
            <a:r>
              <a:rPr lang="fi-FI" dirty="0"/>
              <a:t> </a:t>
            </a: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lack</a:t>
            </a:r>
            <a:r>
              <a:rPr lang="fi-FI" dirty="0"/>
              <a:t> </a:t>
            </a:r>
            <a:r>
              <a:rPr lang="fi-FI" dirty="0" err="1"/>
              <a:t>optical</a:t>
            </a:r>
            <a:r>
              <a:rPr lang="fi-FI" dirty="0"/>
              <a:t> </a:t>
            </a:r>
            <a:r>
              <a:rPr lang="fi-FI" dirty="0" err="1"/>
              <a:t>measurements</a:t>
            </a:r>
            <a:r>
              <a:rPr lang="fi-FI" dirty="0"/>
              <a:t> for </a:t>
            </a:r>
            <a:r>
              <a:rPr lang="fi-FI" dirty="0" err="1"/>
              <a:t>the</a:t>
            </a:r>
            <a:r>
              <a:rPr lang="fi-FI" dirty="0"/>
              <a:t> super-PM</a:t>
            </a:r>
            <a:r>
              <a:rPr lang="fi-FI" baseline="-25000" dirty="0"/>
              <a:t>10</a:t>
            </a:r>
            <a:r>
              <a:rPr lang="fi-FI" dirty="0"/>
              <a:t> </a:t>
            </a:r>
            <a:r>
              <a:rPr lang="fi-FI" dirty="0" err="1"/>
              <a:t>aerosol</a:t>
            </a:r>
            <a:r>
              <a:rPr lang="fi-FI" dirty="0"/>
              <a:t> </a:t>
            </a:r>
            <a:r>
              <a:rPr lang="fi-FI" dirty="0" err="1"/>
              <a:t>particles</a:t>
            </a:r>
            <a:r>
              <a:rPr lang="fi-FI" dirty="0"/>
              <a:t>. </a:t>
            </a:r>
            <a:r>
              <a:rPr lang="fi-FI" dirty="0" err="1"/>
              <a:t>Thus</a:t>
            </a:r>
            <a:r>
              <a:rPr lang="fi-FI" dirty="0"/>
              <a:t>, </a:t>
            </a: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cannot</a:t>
            </a:r>
            <a:r>
              <a:rPr lang="fi-FI" dirty="0"/>
              <a:t> </a:t>
            </a:r>
            <a:r>
              <a:rPr lang="fi-FI" dirty="0" err="1"/>
              <a:t>use</a:t>
            </a:r>
            <a:r>
              <a:rPr lang="fi-FI" dirty="0"/>
              <a:t> </a:t>
            </a:r>
            <a:r>
              <a:rPr lang="fi-FI" dirty="0" err="1"/>
              <a:t>both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PM </a:t>
            </a:r>
            <a:r>
              <a:rPr lang="fi-FI" dirty="0" err="1"/>
              <a:t>mass</a:t>
            </a:r>
            <a:r>
              <a:rPr lang="fi-FI" dirty="0"/>
              <a:t> and </a:t>
            </a:r>
            <a:r>
              <a:rPr lang="fi-FI" dirty="0" err="1"/>
              <a:t>aerosol</a:t>
            </a:r>
            <a:r>
              <a:rPr lang="fi-FI" dirty="0"/>
              <a:t> </a:t>
            </a:r>
            <a:r>
              <a:rPr lang="fi-FI" dirty="0" err="1"/>
              <a:t>optical</a:t>
            </a:r>
            <a:r>
              <a:rPr lang="fi-FI" dirty="0"/>
              <a:t> data in </a:t>
            </a:r>
            <a:r>
              <a:rPr lang="fi-FI" dirty="0" err="1"/>
              <a:t>conjunction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each</a:t>
            </a:r>
            <a:r>
              <a:rPr lang="fi-FI" dirty="0"/>
              <a:t> </a:t>
            </a:r>
            <a:r>
              <a:rPr lang="fi-FI" dirty="0" err="1"/>
              <a:t>other</a:t>
            </a:r>
            <a:r>
              <a:rPr lang="fi-FI" dirty="0"/>
              <a:t> for a </a:t>
            </a:r>
            <a:r>
              <a:rPr lang="fi-FI" dirty="0" err="1"/>
              <a:t>closure</a:t>
            </a:r>
            <a:r>
              <a:rPr lang="fi-FI" dirty="0"/>
              <a:t> </a:t>
            </a:r>
            <a:r>
              <a:rPr lang="fi-FI" dirty="0" err="1"/>
              <a:t>study</a:t>
            </a:r>
            <a:r>
              <a:rPr lang="fi-FI" dirty="0"/>
              <a:t>.</a:t>
            </a:r>
          </a:p>
          <a:p>
            <a:endParaRPr lang="fi-FI" dirty="0"/>
          </a:p>
          <a:p>
            <a:r>
              <a:rPr lang="fi-FI" dirty="0" err="1"/>
              <a:t>Then</a:t>
            </a:r>
            <a:r>
              <a:rPr lang="fi-FI" dirty="0"/>
              <a:t>, </a:t>
            </a:r>
            <a:r>
              <a:rPr lang="fi-FI" dirty="0" err="1"/>
              <a:t>proceed</a:t>
            </a:r>
            <a:r>
              <a:rPr lang="fi-FI" dirty="0"/>
              <a:t> to show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last</a:t>
            </a:r>
            <a:r>
              <a:rPr lang="fi-FI" dirty="0"/>
              <a:t> </a:t>
            </a:r>
            <a:r>
              <a:rPr lang="fi-FI" dirty="0" err="1"/>
              <a:t>two</a:t>
            </a:r>
            <a:r>
              <a:rPr lang="fi-FI" dirty="0"/>
              <a:t> </a:t>
            </a:r>
            <a:r>
              <a:rPr lang="fi-FI" dirty="0" err="1"/>
              <a:t>slides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seasonal</a:t>
            </a:r>
            <a:r>
              <a:rPr lang="fi-FI" dirty="0"/>
              <a:t> </a:t>
            </a:r>
            <a:r>
              <a:rPr lang="fi-FI" dirty="0" err="1"/>
              <a:t>variability</a:t>
            </a:r>
            <a:r>
              <a:rPr lang="fi-FI" dirty="0"/>
              <a:t>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light</a:t>
            </a:r>
            <a:r>
              <a:rPr lang="fi-FI" dirty="0"/>
              <a:t> absorption and </a:t>
            </a:r>
            <a:r>
              <a:rPr lang="fi-FI" dirty="0" err="1"/>
              <a:t>scattering</a:t>
            </a:r>
            <a:r>
              <a:rPr lang="fi-FI" dirty="0"/>
              <a:t> </a:t>
            </a:r>
            <a:r>
              <a:rPr lang="fi-FI" dirty="0" err="1"/>
              <a:t>coefficients</a:t>
            </a:r>
            <a:r>
              <a:rPr lang="fi-FI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EF3FA-3D1A-4FD8-99F0-342E9685710F}" type="slidenum">
              <a:rPr lang="fi-FI" smtClean="0"/>
              <a:t>14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98612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C15E8-4347-6882-AC10-451B3E53C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62F21E-B384-0EC1-351D-F997C116B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476BC-1B79-00A2-4CC1-688EEE0C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41-8A50-43B7-B544-4E15398B4981}" type="datetimeFigureOut">
              <a:rPr lang="fi-FI" smtClean="0"/>
              <a:t>14.5.2026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7639D-E194-C28B-FB82-CEF2F28C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58CA4-1D17-8714-3637-82FE8DC5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8840F-D6E5-47F3-8D5D-7F8B49B9111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79161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991A7-6DD2-9704-B81E-43AD76D8D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EDB49-BC46-BC6F-3A7F-67748D448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0C690-9594-2FE5-D716-BFC68946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41-8A50-43B7-B544-4E15398B4981}" type="datetimeFigureOut">
              <a:rPr lang="fi-FI" smtClean="0"/>
              <a:t>14.5.2026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C7752-8CFB-83AA-D18C-9A3DAC87B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400DE-7B5F-F334-7754-8A78E06F4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8840F-D6E5-47F3-8D5D-7F8B49B9111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94741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E7B87-8992-BF92-AD91-15805025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6091A-6803-7A92-734F-6DFFD50B8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20D35-88DF-7513-A997-FDDF39F52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41-8A50-43B7-B544-4E15398B4981}" type="datetimeFigureOut">
              <a:rPr lang="fi-FI" smtClean="0"/>
              <a:t>14.5.2026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7242B-A027-FA33-10D3-70E828A55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1B3D0-20CE-3B53-840E-5175FB5FB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8840F-D6E5-47F3-8D5D-7F8B49B9111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24269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91B95-BE91-74D2-BDF4-9CF20D3AD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86CCE-976B-36E2-356D-74022E234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A4EB5-2900-08EF-F851-6FD9A2331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EB3F2-ABEF-9911-2AC1-9645ABF6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41-8A50-43B7-B544-4E15398B4981}" type="datetimeFigureOut">
              <a:rPr lang="fi-FI" smtClean="0"/>
              <a:t>14.5.2026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E1948-B1E1-5E0F-6EDA-E23785C51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64D71-38A9-7395-2ED3-8AEAC0987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8840F-D6E5-47F3-8D5D-7F8B49B9111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3884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13D7C-C978-AAC1-7700-6CFAF6354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C96E4-9455-3A7A-96C1-0DE484548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B35C0-0018-27B0-1E46-DE39EA695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D41FE5-08A8-CC7E-8F43-E1D84B69A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ED1F86-78D2-C94D-B231-29CF6CF79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0BF824-5425-ED56-D3E1-82EE40040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41-8A50-43B7-B544-4E15398B4981}" type="datetimeFigureOut">
              <a:rPr lang="fi-FI" smtClean="0"/>
              <a:t>14.5.2026</a:t>
            </a:fld>
            <a:endParaRPr lang="fi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E7B92-CEFC-9727-3EA1-9C5F379B6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898EC0-CAB9-4203-8116-BDAEA4E1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8840F-D6E5-47F3-8D5D-7F8B49B9111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74973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4E693-2F54-DD5E-A423-D35BB53BE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AC903F-7A9E-7319-1F18-6A39CE0B2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41-8A50-43B7-B544-4E15398B4981}" type="datetimeFigureOut">
              <a:rPr lang="fi-FI" smtClean="0"/>
              <a:t>14.5.2026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A0BCBA-5B7A-8C34-200F-EF7744277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95941-FD59-D625-3434-CD1DF0690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8840F-D6E5-47F3-8D5D-7F8B49B9111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68104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EEC75F-CD08-A180-9B4A-562010D98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41-8A50-43B7-B544-4E15398B4981}" type="datetimeFigureOut">
              <a:rPr lang="fi-FI" smtClean="0"/>
              <a:t>14.5.2026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0F1140-336D-D99C-D8E5-E8CF7645A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2F9C5-3E85-6CA4-F243-B79357D92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8840F-D6E5-47F3-8D5D-7F8B49B9111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0471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71AA-82C4-6230-BB0A-6181BEB3A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9F8A5-34B8-408E-081B-3A15F4F2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12DD2-52BB-1C4A-22DB-7A351EBDA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5E511-3D85-15C1-C155-E0FCA3B65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41-8A50-43B7-B544-4E15398B4981}" type="datetimeFigureOut">
              <a:rPr lang="fi-FI" smtClean="0"/>
              <a:t>14.5.2026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9FB83-510E-CC6A-37D3-40D6333E9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18BD0-3505-B86F-36CB-8873F9884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8840F-D6E5-47F3-8D5D-7F8B49B9111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256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1DA4-C5EC-4D20-AA05-2F04CA3DE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439BD8-474F-01B1-F04D-3725C38AD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3F866-E597-18D4-BE91-772BC2A4A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C701C-B95E-5634-FDD8-80806C9F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41-8A50-43B7-B544-4E15398B4981}" type="datetimeFigureOut">
              <a:rPr lang="fi-FI" smtClean="0"/>
              <a:t>14.5.2026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1BAF0-2AB0-97A1-AE41-5F0FDC0B7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1BC14-6E9B-D82C-A99F-6643B4297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8840F-D6E5-47F3-8D5D-7F8B49B9111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79418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1E65D-87D6-C260-BD6C-612308481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5ECFD-C2A6-4405-0C4B-F48454476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A03FC-E459-513E-1117-999C4503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41-8A50-43B7-B544-4E15398B4981}" type="datetimeFigureOut">
              <a:rPr lang="fi-FI" smtClean="0"/>
              <a:t>14.5.2026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02A56-B6FC-791D-08A3-161FA1FE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1FAF5-85CF-6C46-F6FA-518DB6EF7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8840F-D6E5-47F3-8D5D-7F8B49B9111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35711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386C2A-CB8C-1A17-4E19-35A13113F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746B7-3DE4-7AA8-6515-9DCC5B638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DED29-1C4A-4F58-F132-09F3BA7F9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41-8A50-43B7-B544-4E15398B4981}" type="datetimeFigureOut">
              <a:rPr lang="fi-FI" smtClean="0"/>
              <a:t>14.5.2026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4C026-24D7-6889-9CB6-86B1EC397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A0E03-8A4D-14C8-3DEF-BA3CB8CE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8840F-D6E5-47F3-8D5D-7F8B49B9111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2635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BA394D-2E16-B47A-4CB1-767F54662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F2132-9D1B-43F3-DB71-13135359F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B0B47-15ED-3362-7D07-3371E9048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79741-8A50-43B7-B544-4E15398B4981}" type="datetimeFigureOut">
              <a:rPr lang="fi-FI" smtClean="0"/>
              <a:t>14.5.2026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A7A2A-5675-BFAC-F558-FB27A8681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4E1A5-BC90-5768-36AF-34143FCEC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8840F-D6E5-47F3-8D5D-7F8B49B9111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9770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1CDBE98-AC00-5DC9-4EB3-F1F855AF4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7242" cy="1561092"/>
          </a:xfrm>
          <a:prstGeom prst="rect">
            <a:avLst/>
          </a:prstGeom>
        </p:spPr>
      </p:pic>
      <p:pic>
        <p:nvPicPr>
          <p:cNvPr id="9" name="Picture 8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871B9470-689B-EBB4-E76E-469A59BE1B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153" y="0"/>
            <a:ext cx="1466847" cy="1466847"/>
          </a:xfrm>
          <a:prstGeom prst="rect">
            <a:avLst/>
          </a:prstGeom>
        </p:spPr>
      </p:pic>
      <p:pic>
        <p:nvPicPr>
          <p:cNvPr id="1026" name="Picture 2" descr="Winter picture of Hyytiälä's new buildings. Photo by Pekka Kaitaniemi.">
            <a:extLst>
              <a:ext uri="{FF2B5EF4-FFF2-40B4-BE49-F238E27FC236}">
                <a16:creationId xmlns:a16="http://schemas.microsoft.com/office/drawing/2014/main" id="{0DBC6646-22B7-0763-E8AF-745E87B56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581" y="1561092"/>
            <a:ext cx="9134572" cy="4257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4787479-9737-1AE6-2245-8626F0808622}"/>
              </a:ext>
            </a:extLst>
          </p:cNvPr>
          <p:cNvSpPr txBox="1"/>
          <p:nvPr/>
        </p:nvSpPr>
        <p:spPr>
          <a:xfrm>
            <a:off x="-1" y="365047"/>
            <a:ext cx="121919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4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ACTRIS Science Conference 2024</a:t>
            </a:r>
          </a:p>
          <a:p>
            <a:pPr algn="ctr"/>
            <a:r>
              <a:rPr lang="fi-FI" sz="24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Rennes</a:t>
            </a:r>
            <a:r>
              <a:rPr lang="fi-FI" sz="24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 France</a:t>
            </a: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39E99E39-1146-3DB0-E172-F696970400D2}"/>
              </a:ext>
            </a:extLst>
          </p:cNvPr>
          <p:cNvSpPr txBox="1"/>
          <p:nvPr/>
        </p:nvSpPr>
        <p:spPr>
          <a:xfrm>
            <a:off x="6034722" y="6576328"/>
            <a:ext cx="1225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B202B1-89E6-EA6D-092E-97E6EAD99FA8}"/>
              </a:ext>
            </a:extLst>
          </p:cNvPr>
          <p:cNvSpPr txBox="1"/>
          <p:nvPr/>
        </p:nvSpPr>
        <p:spPr>
          <a:xfrm>
            <a:off x="1466847" y="1567200"/>
            <a:ext cx="9258306" cy="1125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Aerosol optical properties of the </a:t>
            </a:r>
            <a:r>
              <a:rPr lang="en-US" sz="2400" b="1" dirty="0" err="1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supermicron</a:t>
            </a:r>
            <a:r>
              <a:rPr lang="en-US" sz="2400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aerosol particles in a </a:t>
            </a:r>
            <a:r>
              <a:rPr lang="en-US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European </a:t>
            </a:r>
            <a:r>
              <a:rPr lang="en-US" sz="2400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boreal environment </a:t>
            </a:r>
            <a:endParaRPr lang="fi-FI" sz="24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782C7C-FBD4-71F1-02D6-E329D20036F6}"/>
              </a:ext>
            </a:extLst>
          </p:cNvPr>
          <p:cNvSpPr txBox="1"/>
          <p:nvPr/>
        </p:nvSpPr>
        <p:spPr>
          <a:xfrm>
            <a:off x="1488550" y="2712123"/>
            <a:ext cx="9250013" cy="27238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fi-FI" sz="1600" b="1" dirty="0">
              <a:solidFill>
                <a:schemeClr val="bg1"/>
              </a:solidFill>
              <a:latin typeface="Verdana"/>
              <a:ea typeface="Verdana"/>
            </a:endParaRPr>
          </a:p>
          <a:p>
            <a:pPr algn="ctr"/>
            <a:r>
              <a:rPr lang="fi-FI" sz="1600" b="1" dirty="0" err="1">
                <a:solidFill>
                  <a:schemeClr val="bg1"/>
                </a:solidFill>
                <a:latin typeface="Verdana"/>
                <a:ea typeface="Verdana"/>
              </a:rPr>
              <a:t>Sujai</a:t>
            </a:r>
            <a:r>
              <a:rPr lang="fi-FI" sz="1600" b="1" dirty="0">
                <a:solidFill>
                  <a:schemeClr val="bg1"/>
                </a:solidFill>
                <a:latin typeface="Verdana"/>
                <a:ea typeface="Verdana"/>
              </a:rPr>
              <a:t> Banerji</a:t>
            </a:r>
            <a:r>
              <a:rPr lang="fi-FI" sz="1600" b="1" baseline="30000" dirty="0">
                <a:solidFill>
                  <a:schemeClr val="bg1"/>
                </a:solidFill>
                <a:latin typeface="Verdana"/>
                <a:ea typeface="Verdana"/>
              </a:rPr>
              <a:t>1</a:t>
            </a:r>
            <a:r>
              <a:rPr lang="fi-FI" sz="1600" b="1" dirty="0">
                <a:solidFill>
                  <a:schemeClr val="bg1"/>
                </a:solidFill>
                <a:latin typeface="Verdana"/>
                <a:ea typeface="Verdana"/>
              </a:rPr>
              <a:t>, </a:t>
            </a:r>
            <a:r>
              <a:rPr lang="fi-FI" sz="1600" dirty="0">
                <a:solidFill>
                  <a:schemeClr val="bg1"/>
                </a:solidFill>
                <a:effectLst/>
                <a:latin typeface="Verdana"/>
                <a:ea typeface="Verdana"/>
              </a:rPr>
              <a:t>Luoma, K.</a:t>
            </a:r>
            <a:r>
              <a:rPr lang="fi-FI" sz="1600" baseline="30000" dirty="0">
                <a:solidFill>
                  <a:schemeClr val="bg1"/>
                </a:solidFill>
                <a:effectLst/>
                <a:latin typeface="Verdana"/>
                <a:ea typeface="Verdana"/>
              </a:rPr>
              <a:t>2</a:t>
            </a:r>
            <a:r>
              <a:rPr lang="fi-FI" sz="1600" dirty="0">
                <a:solidFill>
                  <a:schemeClr val="bg1"/>
                </a:solidFill>
                <a:effectLst/>
                <a:latin typeface="Verdana"/>
                <a:ea typeface="Verdana"/>
              </a:rPr>
              <a:t>, </a:t>
            </a:r>
            <a:r>
              <a:rPr lang="fi-FI" sz="1600" dirty="0" err="1">
                <a:solidFill>
                  <a:schemeClr val="bg1"/>
                </a:solidFill>
                <a:effectLst/>
                <a:latin typeface="Verdana"/>
                <a:ea typeface="Verdana"/>
              </a:rPr>
              <a:t>Ylivinkka</a:t>
            </a:r>
            <a:r>
              <a:rPr lang="fi-FI" sz="1600" dirty="0">
                <a:solidFill>
                  <a:schemeClr val="bg1"/>
                </a:solidFill>
                <a:effectLst/>
                <a:latin typeface="Verdana"/>
                <a:ea typeface="Verdana"/>
              </a:rPr>
              <a:t>, I.</a:t>
            </a:r>
            <a:r>
              <a:rPr lang="fi-FI" sz="1600" baseline="30000" dirty="0">
                <a:solidFill>
                  <a:schemeClr val="bg1"/>
                </a:solidFill>
                <a:effectLst/>
                <a:latin typeface="Verdana"/>
                <a:ea typeface="Verdana"/>
              </a:rPr>
              <a:t>1</a:t>
            </a:r>
            <a:r>
              <a:rPr lang="fi-FI" sz="1600" dirty="0">
                <a:solidFill>
                  <a:schemeClr val="bg1"/>
                </a:solidFill>
                <a:effectLst/>
                <a:latin typeface="Verdana"/>
                <a:ea typeface="Verdana"/>
              </a:rPr>
              <a:t>, Ahonen, L.</a:t>
            </a:r>
            <a:r>
              <a:rPr lang="fi-FI" sz="1600" baseline="30000" dirty="0">
                <a:solidFill>
                  <a:schemeClr val="bg1"/>
                </a:solidFill>
                <a:effectLst/>
                <a:latin typeface="Verdana"/>
                <a:ea typeface="Verdana"/>
              </a:rPr>
              <a:t>1</a:t>
            </a:r>
            <a:r>
              <a:rPr lang="fi-FI" sz="1600" dirty="0">
                <a:solidFill>
                  <a:schemeClr val="bg1"/>
                </a:solidFill>
                <a:latin typeface="Verdana"/>
                <a:ea typeface="Verdana"/>
              </a:rPr>
              <a:t>, Kerminen, V-M</a:t>
            </a:r>
            <a:r>
              <a:rPr lang="fi-FI" sz="1600" dirty="0">
                <a:solidFill>
                  <a:schemeClr val="bg1"/>
                </a:solidFill>
                <a:effectLst/>
                <a:latin typeface="Verdana"/>
                <a:ea typeface="Verdana"/>
              </a:rPr>
              <a:t>.</a:t>
            </a:r>
            <a:r>
              <a:rPr lang="fi-FI" sz="1600" baseline="30000" dirty="0">
                <a:solidFill>
                  <a:schemeClr val="bg1"/>
                </a:solidFill>
                <a:effectLst/>
                <a:latin typeface="Verdana"/>
                <a:ea typeface="Verdana"/>
              </a:rPr>
              <a:t>1</a:t>
            </a:r>
            <a:r>
              <a:rPr lang="fi-FI" sz="1600" dirty="0">
                <a:solidFill>
                  <a:schemeClr val="bg1"/>
                </a:solidFill>
                <a:latin typeface="Verdana"/>
                <a:ea typeface="Verdana"/>
              </a:rPr>
              <a:t> </a:t>
            </a:r>
            <a:r>
              <a:rPr lang="fi-FI" sz="1600" dirty="0">
                <a:solidFill>
                  <a:schemeClr val="bg1"/>
                </a:solidFill>
                <a:effectLst/>
                <a:latin typeface="Verdana"/>
                <a:ea typeface="Verdana"/>
              </a:rPr>
              <a:t>and Petäjä, T.</a:t>
            </a:r>
            <a:r>
              <a:rPr lang="fi-FI" sz="1600" baseline="30000" dirty="0">
                <a:solidFill>
                  <a:schemeClr val="bg1"/>
                </a:solidFill>
                <a:effectLst/>
                <a:latin typeface="Verdana"/>
                <a:ea typeface="Verdana"/>
              </a:rPr>
              <a:t>1</a:t>
            </a:r>
            <a:endParaRPr lang="fi-FI">
              <a:solidFill>
                <a:schemeClr val="bg1"/>
              </a:solidFill>
              <a:latin typeface="Verdana"/>
              <a:ea typeface="Verdana"/>
            </a:endParaRPr>
          </a:p>
          <a:p>
            <a:pPr algn="ctr"/>
            <a:endParaRPr lang="fi-FI" sz="1600" baseline="30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fi-FI" sz="1600" baseline="300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fi-FI" sz="1600" baseline="30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fi-FI" sz="1600" baseline="300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fi-FI" sz="1600" baseline="30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  <a:p>
            <a:pPr marL="0" marR="0" algn="ctr">
              <a:spcBef>
                <a:spcPts val="0"/>
              </a:spcBef>
            </a:pPr>
            <a:r>
              <a:rPr lang="en-US" sz="1800" baseline="30000" dirty="0">
                <a:solidFill>
                  <a:schemeClr val="bg1"/>
                </a:solidFill>
                <a:effectLst/>
                <a:latin typeface="Verdana"/>
                <a:ea typeface="Verdana"/>
                <a:cs typeface="Arial"/>
              </a:rPr>
              <a:t>1</a:t>
            </a:r>
            <a:r>
              <a:rPr lang="en-US" sz="1800" dirty="0">
                <a:solidFill>
                  <a:schemeClr val="bg1"/>
                </a:solidFill>
                <a:effectLst/>
                <a:latin typeface="Verdana"/>
                <a:ea typeface="Verdana"/>
                <a:cs typeface="Arial"/>
              </a:rPr>
              <a:t>Institute for Atmospheric and Earth System Research (INAR</a:t>
            </a:r>
            <a:r>
              <a:rPr lang="en-US" dirty="0">
                <a:solidFill>
                  <a:schemeClr val="bg1"/>
                </a:solidFill>
                <a:latin typeface="Verdana"/>
                <a:ea typeface="Verdana"/>
                <a:cs typeface="Arial"/>
              </a:rPr>
              <a:t>)/</a:t>
            </a:r>
            <a:r>
              <a:rPr lang="en-US" sz="1800" dirty="0">
                <a:solidFill>
                  <a:schemeClr val="bg1"/>
                </a:solidFill>
                <a:effectLst/>
                <a:latin typeface="Verdana"/>
                <a:ea typeface="Verdana"/>
                <a:cs typeface="Arial"/>
              </a:rPr>
              <a:t>Physics, Faculty of Science, University of Helsinki, Finland</a:t>
            </a:r>
            <a:endParaRPr lang="fi-FI" sz="1800">
              <a:solidFill>
                <a:schemeClr val="bg1"/>
              </a:solidFill>
              <a:effectLst/>
              <a:latin typeface="Verdana"/>
              <a:ea typeface="Verdana"/>
              <a:cs typeface="Arial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aseline="300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lang="en-US" sz="18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Finnish Meteorological Institute, Helsinki, Finland</a:t>
            </a:r>
            <a:endParaRPr lang="fi-FI" sz="18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fi-FI" sz="1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B46BE1-CFE2-69F4-0A9E-8B673495D963}"/>
              </a:ext>
            </a:extLst>
          </p:cNvPr>
          <p:cNvSpPr txBox="1"/>
          <p:nvPr/>
        </p:nvSpPr>
        <p:spPr>
          <a:xfrm>
            <a:off x="2500" y="5973581"/>
            <a:ext cx="1217450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i-FI" sz="2400" dirty="0">
                <a:latin typeface="Verdana"/>
                <a:ea typeface="Verdana"/>
                <a:cs typeface="Segoe UI"/>
              </a:rPr>
              <a:t>16</a:t>
            </a:r>
            <a:r>
              <a:rPr lang="fi-FI" sz="2400" baseline="30000" dirty="0">
                <a:latin typeface="Verdana"/>
                <a:ea typeface="Verdana"/>
                <a:cs typeface="Segoe UI"/>
              </a:rPr>
              <a:t>th</a:t>
            </a:r>
            <a:r>
              <a:rPr lang="fi-FI" sz="2400" dirty="0">
                <a:latin typeface="Verdana"/>
                <a:ea typeface="Verdana"/>
                <a:cs typeface="Segoe UI"/>
              </a:rPr>
              <a:t> </a:t>
            </a:r>
            <a:r>
              <a:rPr lang="fi-FI" sz="2400" err="1">
                <a:latin typeface="Verdana"/>
                <a:ea typeface="Verdana"/>
                <a:cs typeface="Segoe UI"/>
              </a:rPr>
              <a:t>May</a:t>
            </a:r>
            <a:r>
              <a:rPr lang="fi-FI" sz="2400" dirty="0">
                <a:latin typeface="Verdana"/>
                <a:ea typeface="Verdana"/>
                <a:cs typeface="Segoe UI"/>
              </a:rPr>
              <a:t>, 2024</a:t>
            </a:r>
          </a:p>
        </p:txBody>
      </p:sp>
    </p:spTree>
    <p:extLst>
      <p:ext uri="{BB962C8B-B14F-4D97-AF65-F5344CB8AC3E}">
        <p14:creationId xmlns:p14="http://schemas.microsoft.com/office/powerpoint/2010/main" val="3728580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1CDBE98-AC00-5DC9-4EB3-F1F855AF4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7242" cy="1561092"/>
          </a:xfrm>
          <a:prstGeom prst="rect">
            <a:avLst/>
          </a:prstGeom>
        </p:spPr>
      </p:pic>
      <p:pic>
        <p:nvPicPr>
          <p:cNvPr id="9" name="Picture 8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871B9470-689B-EBB4-E76E-469A59BE1B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153" y="0"/>
            <a:ext cx="1466847" cy="14668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FF9D09-8C77-C3E1-416E-225614A4DA57}"/>
              </a:ext>
            </a:extLst>
          </p:cNvPr>
          <p:cNvSpPr txBox="1"/>
          <p:nvPr/>
        </p:nvSpPr>
        <p:spPr>
          <a:xfrm>
            <a:off x="1" y="634774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4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Introduction</a:t>
            </a:r>
            <a:endParaRPr lang="fi-FI" sz="2400" b="1" dirty="0"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77DC9D-3B0E-5760-C3C4-73E3CE054045}"/>
              </a:ext>
            </a:extLst>
          </p:cNvPr>
          <p:cNvSpPr txBox="1"/>
          <p:nvPr/>
        </p:nvSpPr>
        <p:spPr>
          <a:xfrm>
            <a:off x="1576386" y="1561092"/>
            <a:ext cx="903922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7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Q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uantify the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erosol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o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ptical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p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roperties at the SMEAR II site in southern Finland.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The time series and seasonal variation of the extensive and intensive properties for PM</a:t>
            </a:r>
            <a:r>
              <a:rPr lang="en-US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10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and PM</a:t>
            </a:r>
            <a:r>
              <a:rPr lang="en-US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aerosol particles.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Special emphasis has been placed on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supermicron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aerosol particles (i.e. PM</a:t>
            </a:r>
            <a:r>
              <a:rPr lang="en-US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&lt;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supermicron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aerosol particles ≤ PM</a:t>
            </a:r>
            <a:r>
              <a:rPr lang="en-US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10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Absence of optical closure </a:t>
            </a:r>
            <a:r>
              <a:rPr lang="en-US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between in situ-derived and AERONET-derived AOD values suggests the contribution of missing coarse mode particles.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SMEAR II provides a unique setting for observing natural aerosol contributions like pollen and spores, which are significant especially during seasonal peaks.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68D40720-617D-5B47-827B-982AA5C0A667}"/>
              </a:ext>
            </a:extLst>
          </p:cNvPr>
          <p:cNvSpPr txBox="1"/>
          <p:nvPr/>
        </p:nvSpPr>
        <p:spPr>
          <a:xfrm>
            <a:off x="5973445" y="6562626"/>
            <a:ext cx="1225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i-FI" sz="12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2</a:t>
            </a:r>
            <a:endParaRPr sz="1200" b="1" dirty="0"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938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08169C21-2410-2569-E553-FF81F8A0E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7242" cy="1561092"/>
          </a:xfrm>
          <a:prstGeom prst="rect">
            <a:avLst/>
          </a:prstGeom>
        </p:spPr>
      </p:pic>
      <p:pic>
        <p:nvPicPr>
          <p:cNvPr id="4" name="Picture 3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BA62C1E4-8BA5-EA81-F28F-ACEE5E58B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153" y="0"/>
            <a:ext cx="1466847" cy="1466847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568261B4-D066-0F26-0EB2-687DB8ACFAAC}"/>
              </a:ext>
            </a:extLst>
          </p:cNvPr>
          <p:cNvSpPr txBox="1"/>
          <p:nvPr/>
        </p:nvSpPr>
        <p:spPr>
          <a:xfrm>
            <a:off x="6034722" y="6642637"/>
            <a:ext cx="1225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i-FI" sz="12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3</a:t>
            </a:r>
            <a:endParaRPr sz="1200" b="1" dirty="0"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 descr="A picture containing indoor, equipment, cluttered&#10;&#10;Description automatically generated">
            <a:extLst>
              <a:ext uri="{FF2B5EF4-FFF2-40B4-BE49-F238E27FC236}">
                <a16:creationId xmlns:a16="http://schemas.microsoft.com/office/drawing/2014/main" id="{2081FC42-0B73-EB02-7AFC-6B41A0404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125" y="190500"/>
            <a:ext cx="4857750" cy="64770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0F1E4A-500A-6068-8F11-609AE6BE2B68}"/>
              </a:ext>
            </a:extLst>
          </p:cNvPr>
          <p:cNvCxnSpPr>
            <a:cxnSpLocks/>
          </p:cNvCxnSpPr>
          <p:nvPr/>
        </p:nvCxnSpPr>
        <p:spPr>
          <a:xfrm>
            <a:off x="6855460" y="1887220"/>
            <a:ext cx="3126740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C56EDF-5799-1F9D-7209-B6576E90CCDD}"/>
              </a:ext>
            </a:extLst>
          </p:cNvPr>
          <p:cNvCxnSpPr>
            <a:cxnSpLocks/>
          </p:cNvCxnSpPr>
          <p:nvPr/>
        </p:nvCxnSpPr>
        <p:spPr>
          <a:xfrm flipH="1">
            <a:off x="2686050" y="3429000"/>
            <a:ext cx="1876425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344CAC-9B9D-14C6-4973-3DD5CA48036E}"/>
              </a:ext>
            </a:extLst>
          </p:cNvPr>
          <p:cNvCxnSpPr>
            <a:cxnSpLocks/>
          </p:cNvCxnSpPr>
          <p:nvPr/>
        </p:nvCxnSpPr>
        <p:spPr>
          <a:xfrm flipH="1">
            <a:off x="2686050" y="4816475"/>
            <a:ext cx="1764030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F9663D-3840-F311-2CA2-64A3C3F1E238}"/>
              </a:ext>
            </a:extLst>
          </p:cNvPr>
          <p:cNvCxnSpPr>
            <a:cxnSpLocks/>
          </p:cNvCxnSpPr>
          <p:nvPr/>
        </p:nvCxnSpPr>
        <p:spPr>
          <a:xfrm>
            <a:off x="6096000" y="5611495"/>
            <a:ext cx="3971925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A0B9ED1-2548-481A-C08D-058E83A1FCF5}"/>
              </a:ext>
            </a:extLst>
          </p:cNvPr>
          <p:cNvSpPr txBox="1"/>
          <p:nvPr/>
        </p:nvSpPr>
        <p:spPr>
          <a:xfrm>
            <a:off x="10134600" y="5195996"/>
            <a:ext cx="2057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Integrating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i-FI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nephelometer</a:t>
            </a:r>
            <a:endParaRPr lang="fi-FI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TSI </a:t>
            </a:r>
            <a:r>
              <a:rPr lang="fi-FI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3563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512B06-7236-F435-0A09-4F9745A1DB65}"/>
              </a:ext>
            </a:extLst>
          </p:cNvPr>
          <p:cNvSpPr txBox="1"/>
          <p:nvPr/>
        </p:nvSpPr>
        <p:spPr>
          <a:xfrm>
            <a:off x="9982200" y="1594832"/>
            <a:ext cx="2057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PM</a:t>
            </a:r>
            <a:r>
              <a:rPr lang="fi-FI" sz="1600" baseline="-25000" dirty="0">
                <a:latin typeface="Helvetica" panose="020B0604020202020204" pitchFamily="34" charset="0"/>
                <a:cs typeface="Helvetica" panose="020B0604020202020204" pitchFamily="34" charset="0"/>
              </a:rPr>
              <a:t>10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/PM</a:t>
            </a:r>
            <a:r>
              <a:rPr lang="fi-FI" sz="1600" baseline="-25000" dirty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i-FI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switching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i-FI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inlet</a:t>
            </a:r>
            <a:endParaRPr lang="fi-FI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8A708F-BE83-0B45-3297-084A8E165275}"/>
              </a:ext>
            </a:extLst>
          </p:cNvPr>
          <p:cNvSpPr txBox="1"/>
          <p:nvPr/>
        </p:nvSpPr>
        <p:spPr>
          <a:xfrm>
            <a:off x="514351" y="2751891"/>
            <a:ext cx="24765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Multi-</a:t>
            </a:r>
            <a:r>
              <a:rPr lang="fi-FI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angle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absorption </a:t>
            </a:r>
            <a:r>
              <a:rPr lang="fi-FI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photometer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fi-FI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Thermo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i-FI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Scientific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MAAP</a:t>
            </a:r>
          </a:p>
          <a:p>
            <a:r>
              <a:rPr lang="fi-FI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5012) </a:t>
            </a:r>
          </a:p>
          <a:p>
            <a:endParaRPr lang="fi-FI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DFAD0C-9457-2D9B-B160-05865DDD2980}"/>
              </a:ext>
            </a:extLst>
          </p:cNvPr>
          <p:cNvSpPr txBox="1"/>
          <p:nvPr/>
        </p:nvSpPr>
        <p:spPr>
          <a:xfrm>
            <a:off x="514351" y="4400976"/>
            <a:ext cx="21717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Aethalometer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fi-FI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Magee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i-FI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Scientific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i-FI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AE33)</a:t>
            </a:r>
            <a:endParaRPr lang="fi-FI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89AB62-341B-5BE5-6B2E-09DDB8849BAE}"/>
              </a:ext>
            </a:extLst>
          </p:cNvPr>
          <p:cNvSpPr txBox="1"/>
          <p:nvPr/>
        </p:nvSpPr>
        <p:spPr>
          <a:xfrm>
            <a:off x="8601076" y="2641362"/>
            <a:ext cx="35242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i-FI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PM</a:t>
            </a:r>
            <a:r>
              <a:rPr lang="fi-FI" sz="1600" baseline="-25000" dirty="0">
                <a:latin typeface="Helvetica" panose="020B0604020202020204" pitchFamily="34" charset="0"/>
                <a:cs typeface="Helvetica" panose="020B0604020202020204" pitchFamily="34" charset="0"/>
              </a:rPr>
              <a:t>10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i-FI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range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= [(10, 19), (30, 39), (50, 59)]</a:t>
            </a:r>
          </a:p>
          <a:p>
            <a:endParaRPr lang="fi-FI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PM</a:t>
            </a:r>
            <a:r>
              <a:rPr lang="fi-FI" sz="1600" baseline="-25000" dirty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i-FI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range</a:t>
            </a:r>
            <a:r>
              <a:rPr lang="fi-FI" sz="1600" dirty="0">
                <a:latin typeface="Helvetica" panose="020B0604020202020204" pitchFamily="34" charset="0"/>
                <a:cs typeface="Helvetica" panose="020B0604020202020204" pitchFamily="34" charset="0"/>
              </a:rPr>
              <a:t> = [(0, 9), (20, 29), (40, 49)]</a:t>
            </a:r>
          </a:p>
          <a:p>
            <a:r>
              <a:rPr lang="fi-FI" sz="16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56953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4FD9D4-202B-6B30-4D76-FA44A9D59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18518"/>
            <a:ext cx="6095999" cy="3525814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0E64DD8-173F-F83A-CA00-B67AF3C3E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7242" cy="1561092"/>
          </a:xfrm>
          <a:prstGeom prst="rect">
            <a:avLst/>
          </a:prstGeom>
        </p:spPr>
      </p:pic>
      <p:pic>
        <p:nvPicPr>
          <p:cNvPr id="7" name="Picture 6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DB792FDA-4B0D-8999-6BD2-68D7DC3242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153" y="0"/>
            <a:ext cx="1466847" cy="14668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F81F18-A9DE-B5C8-FF79-C9A738817A2C}"/>
              </a:ext>
            </a:extLst>
          </p:cNvPr>
          <p:cNvSpPr txBox="1"/>
          <p:nvPr/>
        </p:nvSpPr>
        <p:spPr>
          <a:xfrm>
            <a:off x="1" y="634774"/>
            <a:ext cx="12191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Extensive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properties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: </a:t>
            </a:r>
            <a:r>
              <a:rPr lang="fi-FI" sz="2000" b="1" dirty="0">
                <a:solidFill>
                  <a:srgbClr val="2021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σ</a:t>
            </a:r>
            <a:r>
              <a:rPr lang="en-US" sz="2000" b="1" baseline="-25000" dirty="0">
                <a:solidFill>
                  <a:srgbClr val="2021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abs,</a:t>
            </a:r>
            <a:r>
              <a:rPr lang="en-US" sz="2000" b="1" baseline="-25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520 </a:t>
            </a:r>
            <a:r>
              <a:rPr lang="en-US" sz="20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and </a:t>
            </a:r>
            <a:r>
              <a:rPr lang="fi-FI" sz="2000" b="1" dirty="0">
                <a:solidFill>
                  <a:srgbClr val="2021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σ</a:t>
            </a:r>
            <a:r>
              <a:rPr lang="en-US" sz="2000" b="1" baseline="-25000" dirty="0" err="1">
                <a:solidFill>
                  <a:srgbClr val="202122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sca</a:t>
            </a:r>
            <a:r>
              <a:rPr lang="en-US" sz="2000" b="1" baseline="-25000" dirty="0">
                <a:solidFill>
                  <a:srgbClr val="2021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</a:t>
            </a:r>
            <a:r>
              <a:rPr lang="en-US" sz="2000" b="1" baseline="-25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550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94CEC0-5A64-83AC-4AFB-9E1AB3E30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1014" y="1828779"/>
            <a:ext cx="6150985" cy="35266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74E26C-55BC-A012-6C5E-20D65C0D25AE}"/>
              </a:ext>
            </a:extLst>
          </p:cNvPr>
          <p:cNvSpPr txBox="1"/>
          <p:nvPr/>
        </p:nvSpPr>
        <p:spPr>
          <a:xfrm>
            <a:off x="0" y="5344331"/>
            <a:ext cx="6259332" cy="78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26035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Figure 1.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Time series of </a:t>
            </a:r>
            <a:r>
              <a:rPr lang="fi-FI" sz="1600" dirty="0">
                <a:solidFill>
                  <a:srgbClr val="2021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σ</a:t>
            </a:r>
            <a:r>
              <a:rPr lang="en-US" sz="1600" baseline="-25000" dirty="0">
                <a:solidFill>
                  <a:srgbClr val="2021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abs,</a:t>
            </a:r>
            <a:r>
              <a:rPr lang="en-US" sz="1600" baseline="-25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520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for PM</a:t>
            </a:r>
            <a:r>
              <a:rPr lang="en-US" sz="1600" baseline="-25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10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 submicron and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supermicron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aerosol particles from 2010-22.</a:t>
            </a:r>
            <a:endParaRPr lang="fi-FI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5DAF49-075C-1AC3-5B50-721C2B845524}"/>
              </a:ext>
            </a:extLst>
          </p:cNvPr>
          <p:cNvSpPr txBox="1"/>
          <p:nvPr/>
        </p:nvSpPr>
        <p:spPr>
          <a:xfrm>
            <a:off x="5863340" y="5333269"/>
            <a:ext cx="6328659" cy="78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26035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Figure 2.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Time series of </a:t>
            </a:r>
            <a:r>
              <a:rPr lang="fi-FI" sz="1600" dirty="0">
                <a:solidFill>
                  <a:srgbClr val="2021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σ</a:t>
            </a:r>
            <a:r>
              <a:rPr lang="en-US" sz="1600" baseline="-25000" dirty="0" err="1">
                <a:solidFill>
                  <a:srgbClr val="2021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sca</a:t>
            </a:r>
            <a:r>
              <a:rPr lang="en-US" sz="1600" baseline="-25000" dirty="0">
                <a:solidFill>
                  <a:srgbClr val="2021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</a:t>
            </a:r>
            <a:r>
              <a:rPr lang="en-US" sz="1600" baseline="-25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550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for PM</a:t>
            </a:r>
            <a:r>
              <a:rPr lang="en-US" sz="1600" baseline="-25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10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 submicron and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supermicron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aerosol particles from 2010-22.</a:t>
            </a:r>
            <a:endParaRPr lang="fi-FI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A2B8467B-ED80-2DFE-91AD-5C65AC70582C}"/>
              </a:ext>
            </a:extLst>
          </p:cNvPr>
          <p:cNvSpPr txBox="1"/>
          <p:nvPr/>
        </p:nvSpPr>
        <p:spPr>
          <a:xfrm>
            <a:off x="6041014" y="6506065"/>
            <a:ext cx="1225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i-FI" sz="12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4</a:t>
            </a:r>
            <a:endParaRPr sz="1200" b="1" dirty="0"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497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EBC940-38D7-04D7-0298-E3C167D1E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575"/>
            <a:ext cx="12192000" cy="645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18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DB70FB4-6686-6CE6-7FF1-1E0DE0595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7242" cy="1561092"/>
          </a:xfrm>
          <a:prstGeom prst="rect">
            <a:avLst/>
          </a:prstGeom>
        </p:spPr>
      </p:pic>
      <p:pic>
        <p:nvPicPr>
          <p:cNvPr id="3" name="Picture 2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C825D402-0ACC-EEEE-10C6-E77E0C8614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153" y="0"/>
            <a:ext cx="1466847" cy="14668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85DCE5-3E42-FEE9-2BBC-5CE8DB61EA52}"/>
              </a:ext>
            </a:extLst>
          </p:cNvPr>
          <p:cNvSpPr txBox="1"/>
          <p:nvPr/>
        </p:nvSpPr>
        <p:spPr>
          <a:xfrm>
            <a:off x="1" y="634774"/>
            <a:ext cx="12191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Key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take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away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points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425E9D-D03B-6472-9437-9B9CE93CDA5B}"/>
              </a:ext>
            </a:extLst>
          </p:cNvPr>
          <p:cNvSpPr txBox="1"/>
          <p:nvPr/>
        </p:nvSpPr>
        <p:spPr>
          <a:xfrm>
            <a:off x="866775" y="1561092"/>
            <a:ext cx="985837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1600" b="0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1"/>
            <a:endParaRPr lang="en-US" sz="1600" b="0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4"/>
            <a:endParaRPr lang="en-US" sz="1600" b="0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decreasing trend of the </a:t>
            </a:r>
            <a:r>
              <a:rPr lang="fi-FI" sz="1600" dirty="0">
                <a:solidFill>
                  <a:srgbClr val="2021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σ</a:t>
            </a:r>
            <a:r>
              <a:rPr lang="en-US" sz="1600" baseline="-25000" dirty="0" err="1">
                <a:solidFill>
                  <a:srgbClr val="202122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sca</a:t>
            </a:r>
            <a:r>
              <a:rPr lang="en-US" sz="1600" baseline="-25000" dirty="0">
                <a:solidFill>
                  <a:srgbClr val="2021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</a:t>
            </a:r>
            <a:r>
              <a:rPr lang="en-US" sz="1600" baseline="-25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550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 in the present study, may be partially attributed to a decrease in the concentration of SO</a:t>
            </a:r>
            <a:r>
              <a:rPr lang="en-US" sz="1600" baseline="-250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since the 1970s (Smith et al., 2011,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Klimont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et al., 2013).</a:t>
            </a: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oth the reduction of SO</a:t>
            </a:r>
            <a:r>
              <a:rPr lang="en-US" sz="1600" baseline="-250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between 1998-2018, as reported by Li et al., 2023, and CS between 2006-2022, as reported by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Sulo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et al., 2022, suggest a decrease in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fi-FI" sz="1600" dirty="0">
                <a:solidFill>
                  <a:srgbClr val="2021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σ</a:t>
            </a:r>
            <a:r>
              <a:rPr lang="en-US" sz="1600" baseline="-25000" dirty="0" err="1">
                <a:solidFill>
                  <a:srgbClr val="202122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sca</a:t>
            </a:r>
            <a:r>
              <a:rPr lang="en-US" sz="1600" baseline="-25000" dirty="0">
                <a:solidFill>
                  <a:srgbClr val="2021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</a:t>
            </a:r>
            <a:r>
              <a:rPr lang="en-US" sz="1600" baseline="-25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550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of the aerosol particles across the different size ranges.</a:t>
            </a: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r>
              <a:rPr lang="en-US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observed decrease in the absorption coefficient was about twice as significant as the decrease in the scattering coefficient. </a:t>
            </a:r>
            <a:endParaRPr lang="en-US" sz="1600" b="0" i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      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F40AE311-46D4-5C92-CE55-CCC3166D2FE5}"/>
              </a:ext>
            </a:extLst>
          </p:cNvPr>
          <p:cNvSpPr txBox="1"/>
          <p:nvPr/>
        </p:nvSpPr>
        <p:spPr>
          <a:xfrm>
            <a:off x="6034722" y="6524918"/>
            <a:ext cx="1225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i-FI" sz="12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5</a:t>
            </a:r>
            <a:endParaRPr sz="1200" b="1" dirty="0"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047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0E64DD8-173F-F83A-CA00-B67AF3C3E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7242" cy="15610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F81F18-A9DE-B5C8-FF79-C9A738817A2C}"/>
              </a:ext>
            </a:extLst>
          </p:cNvPr>
          <p:cNvSpPr txBox="1"/>
          <p:nvPr/>
        </p:nvSpPr>
        <p:spPr>
          <a:xfrm>
            <a:off x="1" y="634774"/>
            <a:ext cx="12191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Supporting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indicators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from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recent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literature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74E26C-55BC-A012-6C5E-20D65C0D25AE}"/>
              </a:ext>
            </a:extLst>
          </p:cNvPr>
          <p:cNvSpPr txBox="1"/>
          <p:nvPr/>
        </p:nvSpPr>
        <p:spPr>
          <a:xfrm>
            <a:off x="0" y="5344331"/>
            <a:ext cx="6259332" cy="78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26035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Figure 5.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Time series of </a:t>
            </a:r>
            <a:r>
              <a:rPr lang="fi-FI" sz="1600" dirty="0">
                <a:solidFill>
                  <a:srgbClr val="202122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SO</a:t>
            </a:r>
            <a:r>
              <a:rPr lang="fi-FI" sz="1600" baseline="-25000" dirty="0">
                <a:solidFill>
                  <a:srgbClr val="202122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2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mixing ratio from 1997-2019 at SMEAR II (Li et al., 2023; BER).</a:t>
            </a:r>
            <a:endParaRPr lang="fi-FI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pic>
        <p:nvPicPr>
          <p:cNvPr id="10" name="Picture 9" descr="A pink line with a black line&#10;&#10;Description automatically generated">
            <a:extLst>
              <a:ext uri="{FF2B5EF4-FFF2-40B4-BE49-F238E27FC236}">
                <a16:creationId xmlns:a16="http://schemas.microsoft.com/office/drawing/2014/main" id="{5623FFF3-083E-5F56-E3E7-87779DF45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26147"/>
            <a:ext cx="6502694" cy="21843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4CF2E6-E70E-86AB-2948-D61E8B7040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20" y="4421512"/>
            <a:ext cx="5122380" cy="4273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B99A13-B770-F5D8-08A3-D7242EEA49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20" y="4241600"/>
            <a:ext cx="5122380" cy="161237"/>
          </a:xfrm>
          <a:prstGeom prst="rect">
            <a:avLst/>
          </a:prstGeom>
        </p:spPr>
      </p:pic>
      <p:pic>
        <p:nvPicPr>
          <p:cNvPr id="18" name="Picture 17" descr="A graph showing the value of a graph&#10;&#10;Description automatically generated with medium confidence">
            <a:extLst>
              <a:ext uri="{FF2B5EF4-FFF2-40B4-BE49-F238E27FC236}">
                <a16:creationId xmlns:a16="http://schemas.microsoft.com/office/drawing/2014/main" id="{1FA001C8-CE1D-17C3-EA5F-A4DDD3554C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076" y="1353849"/>
            <a:ext cx="5791924" cy="2040371"/>
          </a:xfrm>
          <a:prstGeom prst="rect">
            <a:avLst/>
          </a:prstGeom>
        </p:spPr>
      </p:pic>
      <p:sp>
        <p:nvSpPr>
          <p:cNvPr id="19" name="object 6">
            <a:extLst>
              <a:ext uri="{FF2B5EF4-FFF2-40B4-BE49-F238E27FC236}">
                <a16:creationId xmlns:a16="http://schemas.microsoft.com/office/drawing/2014/main" id="{CF182442-0CA7-B054-646F-60DB4F60DF5F}"/>
              </a:ext>
            </a:extLst>
          </p:cNvPr>
          <p:cNvSpPr txBox="1"/>
          <p:nvPr/>
        </p:nvSpPr>
        <p:spPr>
          <a:xfrm>
            <a:off x="6034722" y="6522318"/>
            <a:ext cx="1225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i-FI" sz="12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6</a:t>
            </a:r>
            <a:endParaRPr sz="1200" b="1" dirty="0"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4746236-9A4C-A6EB-81AD-D285E88A21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263" y="3984451"/>
            <a:ext cx="5153525" cy="19541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3B1C5DB-0896-C41B-1D05-7643A6580FAD}"/>
              </a:ext>
            </a:extLst>
          </p:cNvPr>
          <p:cNvSpPr txBox="1"/>
          <p:nvPr/>
        </p:nvSpPr>
        <p:spPr>
          <a:xfrm>
            <a:off x="7025106" y="5938568"/>
            <a:ext cx="5206739" cy="78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26035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Figure 7.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Time series of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eBC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from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2006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-18 at SMEAR II (Luoma et al., 2021; A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CP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).</a:t>
            </a:r>
            <a:endParaRPr lang="fi-FI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pic>
        <p:nvPicPr>
          <p:cNvPr id="25" name="Picture 24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A21EC7F1-0A2F-71A2-4CB6-E50C072752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153" y="0"/>
            <a:ext cx="1466847" cy="146684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ABBF72E-C3D9-56FC-115F-389BA8D205A3}"/>
              </a:ext>
            </a:extLst>
          </p:cNvPr>
          <p:cNvSpPr txBox="1"/>
          <p:nvPr/>
        </p:nvSpPr>
        <p:spPr>
          <a:xfrm>
            <a:off x="6985263" y="3372648"/>
            <a:ext cx="5206737" cy="78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26035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Figure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6</a:t>
            </a: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.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Time series of CS from 2006-2022 at SMEAR II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Sulo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et al., 2022; ACP)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.</a:t>
            </a:r>
            <a:endParaRPr lang="fi-FI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592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0E64DD8-173F-F83A-CA00-B67AF3C3E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7242" cy="1561092"/>
          </a:xfrm>
          <a:prstGeom prst="rect">
            <a:avLst/>
          </a:prstGeom>
        </p:spPr>
      </p:pic>
      <p:pic>
        <p:nvPicPr>
          <p:cNvPr id="7" name="Picture 6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DB792FDA-4B0D-8999-6BD2-68D7DC3242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153" y="0"/>
            <a:ext cx="1466847" cy="14668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F81F18-A9DE-B5C8-FF79-C9A738817A2C}"/>
              </a:ext>
            </a:extLst>
          </p:cNvPr>
          <p:cNvSpPr txBox="1"/>
          <p:nvPr/>
        </p:nvSpPr>
        <p:spPr>
          <a:xfrm>
            <a:off x="1" y="634774"/>
            <a:ext cx="12191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Extensive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properties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: </a:t>
            </a:r>
            <a:r>
              <a:rPr lang="fi-FI" sz="2000" b="1" dirty="0">
                <a:solidFill>
                  <a:srgbClr val="2021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σ</a:t>
            </a:r>
            <a:r>
              <a:rPr lang="en-US" sz="2000" b="1" baseline="-25000" dirty="0" err="1">
                <a:solidFill>
                  <a:srgbClr val="202122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bsca</a:t>
            </a:r>
            <a:r>
              <a:rPr lang="en-US" sz="2000" b="1" baseline="-25000" dirty="0">
                <a:solidFill>
                  <a:srgbClr val="202122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 550</a:t>
            </a:r>
            <a:r>
              <a:rPr lang="en-US" sz="2000" b="1" baseline="-25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sz="20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and </a:t>
            </a:r>
            <a:r>
              <a:rPr lang="fi-FI" sz="2000" b="1" dirty="0">
                <a:solidFill>
                  <a:srgbClr val="202122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PM </a:t>
            </a:r>
            <a:r>
              <a:rPr lang="fi-FI" sz="2000" b="1" dirty="0" err="1">
                <a:solidFill>
                  <a:srgbClr val="202122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mass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74E26C-55BC-A012-6C5E-20D65C0D25AE}"/>
              </a:ext>
            </a:extLst>
          </p:cNvPr>
          <p:cNvSpPr txBox="1"/>
          <p:nvPr/>
        </p:nvSpPr>
        <p:spPr>
          <a:xfrm>
            <a:off x="0" y="5344331"/>
            <a:ext cx="6259332" cy="1150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26035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Figure 3.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Time series of </a:t>
            </a:r>
            <a:r>
              <a:rPr lang="fi-FI" sz="1600" dirty="0">
                <a:solidFill>
                  <a:srgbClr val="2021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σ</a:t>
            </a:r>
            <a:r>
              <a:rPr lang="en-US" sz="1600" baseline="-25000" dirty="0" err="1">
                <a:solidFill>
                  <a:srgbClr val="2021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bsca</a:t>
            </a:r>
            <a:r>
              <a:rPr lang="en-US" sz="1600" baseline="-25000" dirty="0">
                <a:solidFill>
                  <a:srgbClr val="202122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 550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for the PM</a:t>
            </a:r>
            <a:r>
              <a:rPr lang="en-US" sz="1600" baseline="-25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10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 submicron and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supermicron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aerosol particles from 2010-22.</a:t>
            </a:r>
            <a:endParaRPr lang="fi-FI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5DAF49-075C-1AC3-5B50-721C2B845524}"/>
              </a:ext>
            </a:extLst>
          </p:cNvPr>
          <p:cNvSpPr txBox="1"/>
          <p:nvPr/>
        </p:nvSpPr>
        <p:spPr>
          <a:xfrm>
            <a:off x="5863341" y="5333269"/>
            <a:ext cx="6328659" cy="1150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26035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Figure 4.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Time series of </a:t>
            </a:r>
            <a:r>
              <a:rPr lang="fi-FI" sz="1600" dirty="0">
                <a:solidFill>
                  <a:srgbClr val="202122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PM </a:t>
            </a:r>
            <a:r>
              <a:rPr lang="fi-FI" sz="1600" dirty="0" err="1">
                <a:solidFill>
                  <a:srgbClr val="202122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mass</a:t>
            </a:r>
            <a:r>
              <a:rPr lang="fi-FI" sz="1600" dirty="0">
                <a:solidFill>
                  <a:srgbClr val="202122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sz="1600" dirty="0">
                <a:solidFill>
                  <a:srgbClr val="202122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for the submicron</a:t>
            </a:r>
            <a:r>
              <a:rPr lang="en-US" sz="1600" baseline="-25000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supermicron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and super-PM</a:t>
            </a:r>
            <a:r>
              <a:rPr lang="en-US" sz="1600" baseline="-25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10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aerosol particles from 2010-22.</a:t>
            </a:r>
            <a:endParaRPr lang="fi-FI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0B0B72-0EDD-80D7-0EE8-9910B023F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828778"/>
            <a:ext cx="5921611" cy="35266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BCD351-CE5A-D2A8-B12D-B85CF9A50C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6826" y="1823247"/>
            <a:ext cx="5959957" cy="3526615"/>
          </a:xfrm>
          <a:prstGeom prst="rect">
            <a:avLst/>
          </a:prstGeom>
        </p:spPr>
      </p:pic>
      <p:sp>
        <p:nvSpPr>
          <p:cNvPr id="12" name="object 6">
            <a:extLst>
              <a:ext uri="{FF2B5EF4-FFF2-40B4-BE49-F238E27FC236}">
                <a16:creationId xmlns:a16="http://schemas.microsoft.com/office/drawing/2014/main" id="{3A8EBB40-1E70-C996-BD49-6952D3DC1C50}"/>
              </a:ext>
            </a:extLst>
          </p:cNvPr>
          <p:cNvSpPr txBox="1"/>
          <p:nvPr/>
        </p:nvSpPr>
        <p:spPr>
          <a:xfrm>
            <a:off x="6015548" y="6535953"/>
            <a:ext cx="1225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i-FI" sz="12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7</a:t>
            </a:r>
            <a:endParaRPr sz="1200" b="1" dirty="0"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32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0E64DD8-173F-F83A-CA00-B67AF3C3E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7242" cy="1561092"/>
          </a:xfrm>
          <a:prstGeom prst="rect">
            <a:avLst/>
          </a:prstGeom>
        </p:spPr>
      </p:pic>
      <p:pic>
        <p:nvPicPr>
          <p:cNvPr id="7" name="Picture 6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DB792FDA-4B0D-8999-6BD2-68D7DC324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153" y="0"/>
            <a:ext cx="1466847" cy="14668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F81F18-A9DE-B5C8-FF79-C9A738817A2C}"/>
              </a:ext>
            </a:extLst>
          </p:cNvPr>
          <p:cNvSpPr txBox="1"/>
          <p:nvPr/>
        </p:nvSpPr>
        <p:spPr>
          <a:xfrm>
            <a:off x="1" y="634774"/>
            <a:ext cx="12191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Intensive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properties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: AAE and SAE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74E26C-55BC-A012-6C5E-20D65C0D25AE}"/>
              </a:ext>
            </a:extLst>
          </p:cNvPr>
          <p:cNvSpPr txBox="1"/>
          <p:nvPr/>
        </p:nvSpPr>
        <p:spPr>
          <a:xfrm>
            <a:off x="0" y="5344331"/>
            <a:ext cx="6259332" cy="78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26035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Figure 7.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Time series of AAE from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2010-22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at SMEAR II.</a:t>
            </a:r>
            <a:endParaRPr lang="fi-FI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5DAF49-075C-1AC3-5B50-721C2B845524}"/>
              </a:ext>
            </a:extLst>
          </p:cNvPr>
          <p:cNvSpPr txBox="1"/>
          <p:nvPr/>
        </p:nvSpPr>
        <p:spPr>
          <a:xfrm>
            <a:off x="5863340" y="5333269"/>
            <a:ext cx="6328659" cy="78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26035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Figure 8.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Time series of SAE from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2010-22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at SMEAR II.</a:t>
            </a:r>
            <a:endParaRPr lang="fi-FI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55E8D9-1A8D-9607-BE64-249F841BD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9" y="1756901"/>
            <a:ext cx="5830091" cy="33503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38750D-CFE0-0F98-2A8F-E74EA5846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3340" y="1756901"/>
            <a:ext cx="6325835" cy="3350391"/>
          </a:xfrm>
          <a:prstGeom prst="rect">
            <a:avLst/>
          </a:prstGeom>
        </p:spPr>
      </p:pic>
      <p:sp>
        <p:nvSpPr>
          <p:cNvPr id="9" name="object 6">
            <a:extLst>
              <a:ext uri="{FF2B5EF4-FFF2-40B4-BE49-F238E27FC236}">
                <a16:creationId xmlns:a16="http://schemas.microsoft.com/office/drawing/2014/main" id="{3491019A-8318-BF7E-D58B-E9C2E0637465}"/>
              </a:ext>
            </a:extLst>
          </p:cNvPr>
          <p:cNvSpPr txBox="1"/>
          <p:nvPr/>
        </p:nvSpPr>
        <p:spPr>
          <a:xfrm>
            <a:off x="5802062" y="6496638"/>
            <a:ext cx="1225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i-FI" sz="12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8</a:t>
            </a:r>
            <a:endParaRPr sz="1200" b="1" dirty="0"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33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5B86F6-C617-BA41-F3A3-A30B16B32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338"/>
            <a:ext cx="12192000" cy="645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83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0E64DD8-173F-F83A-CA00-B67AF3C3E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7242" cy="1561092"/>
          </a:xfrm>
          <a:prstGeom prst="rect">
            <a:avLst/>
          </a:prstGeom>
        </p:spPr>
      </p:pic>
      <p:pic>
        <p:nvPicPr>
          <p:cNvPr id="7" name="Picture 6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DB792FDA-4B0D-8999-6BD2-68D7DC3242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153" y="0"/>
            <a:ext cx="1466847" cy="14668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F81F18-A9DE-B5C8-FF79-C9A738817A2C}"/>
              </a:ext>
            </a:extLst>
          </p:cNvPr>
          <p:cNvSpPr txBox="1"/>
          <p:nvPr/>
        </p:nvSpPr>
        <p:spPr>
          <a:xfrm>
            <a:off x="1" y="634774"/>
            <a:ext cx="12191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Implications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for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aerosol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size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distribution</a:t>
            </a:r>
            <a:endParaRPr lang="fi-FI" sz="2000" b="1" dirty="0"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53BEB9-D692-DC03-B739-366B10C2E583}"/>
              </a:ext>
            </a:extLst>
          </p:cNvPr>
          <p:cNvSpPr txBox="1"/>
          <p:nvPr/>
        </p:nvSpPr>
        <p:spPr>
          <a:xfrm>
            <a:off x="1412153" y="2151727"/>
            <a:ext cx="936769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An increasing SAE of the submicron aerosol particles suggests a shift in the accumulation-mode particles toward smaller sizes.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This is further emphasized by the increasing trends that is observed in the SSA and the b in the submicron aerosol particles.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b="0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i-FI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BFC7EB93-68CF-E741-2AA0-805E1D242679}"/>
              </a:ext>
            </a:extLst>
          </p:cNvPr>
          <p:cNvSpPr txBox="1"/>
          <p:nvPr/>
        </p:nvSpPr>
        <p:spPr>
          <a:xfrm>
            <a:off x="5863473" y="6506065"/>
            <a:ext cx="23252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i-FI" sz="12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9</a:t>
            </a:r>
            <a:endParaRPr sz="1200" b="1" dirty="0"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46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0E64DD8-173F-F83A-CA00-B67AF3C3E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7242" cy="1561092"/>
          </a:xfrm>
          <a:prstGeom prst="rect">
            <a:avLst/>
          </a:prstGeom>
        </p:spPr>
      </p:pic>
      <p:pic>
        <p:nvPicPr>
          <p:cNvPr id="7" name="Picture 6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DB792FDA-4B0D-8999-6BD2-68D7DC324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153" y="0"/>
            <a:ext cx="1466847" cy="14668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F81F18-A9DE-B5C8-FF79-C9A738817A2C}"/>
              </a:ext>
            </a:extLst>
          </p:cNvPr>
          <p:cNvSpPr txBox="1"/>
          <p:nvPr/>
        </p:nvSpPr>
        <p:spPr>
          <a:xfrm>
            <a:off x="1" y="634774"/>
            <a:ext cx="12191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Intensive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properties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: SSA and b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7B8394-F47D-7002-E2C0-33EDB0063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642" y="1685046"/>
            <a:ext cx="6209357" cy="36945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B2E2C3-D643-2522-543D-9171B631C9AF}"/>
              </a:ext>
            </a:extLst>
          </p:cNvPr>
          <p:cNvSpPr txBox="1"/>
          <p:nvPr/>
        </p:nvSpPr>
        <p:spPr>
          <a:xfrm>
            <a:off x="0" y="5344331"/>
            <a:ext cx="5982642" cy="78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26035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Figure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8</a:t>
            </a: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.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Time series of SSA from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2010-22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at SMEAR II.</a:t>
            </a:r>
            <a:endParaRPr lang="fi-FI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88A64D-CAF6-0C5D-E2B6-E4B965A4F831}"/>
              </a:ext>
            </a:extLst>
          </p:cNvPr>
          <p:cNvSpPr txBox="1"/>
          <p:nvPr/>
        </p:nvSpPr>
        <p:spPr>
          <a:xfrm>
            <a:off x="6096000" y="5333269"/>
            <a:ext cx="6096000" cy="78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26035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Figure 9.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Time series of b from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2010-22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at SMEAR II.</a:t>
            </a:r>
            <a:endParaRPr lang="fi-FI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627FF4-F2EF-0BA0-6D01-0F5FB3A24D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85046"/>
            <a:ext cx="5982642" cy="3694567"/>
          </a:xfrm>
          <a:prstGeom prst="rect">
            <a:avLst/>
          </a:prstGeom>
        </p:spPr>
      </p:pic>
      <p:sp>
        <p:nvSpPr>
          <p:cNvPr id="10" name="object 6">
            <a:extLst>
              <a:ext uri="{FF2B5EF4-FFF2-40B4-BE49-F238E27FC236}">
                <a16:creationId xmlns:a16="http://schemas.microsoft.com/office/drawing/2014/main" id="{B926416C-05DF-3D66-FE34-FF7CB8EB92C3}"/>
              </a:ext>
            </a:extLst>
          </p:cNvPr>
          <p:cNvSpPr txBox="1"/>
          <p:nvPr/>
        </p:nvSpPr>
        <p:spPr>
          <a:xfrm>
            <a:off x="5863473" y="6506065"/>
            <a:ext cx="23252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i-FI" sz="12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10</a:t>
            </a:r>
            <a:endParaRPr sz="1200" b="1" dirty="0"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721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D337A04-FF3A-EC29-8E35-F9B28DD05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7242" cy="1561092"/>
          </a:xfrm>
          <a:prstGeom prst="rect">
            <a:avLst/>
          </a:prstGeom>
        </p:spPr>
      </p:pic>
      <p:pic>
        <p:nvPicPr>
          <p:cNvPr id="3" name="Picture 2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2C9F8719-162A-ECED-BF36-C26A885C1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153" y="0"/>
            <a:ext cx="1466847" cy="14668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4A6257-2409-A085-E3FB-9A2DDAE46CA4}"/>
              </a:ext>
            </a:extLst>
          </p:cNvPr>
          <p:cNvSpPr txBox="1"/>
          <p:nvPr/>
        </p:nvSpPr>
        <p:spPr>
          <a:xfrm>
            <a:off x="1" y="579425"/>
            <a:ext cx="12191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 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0D34B9E9-B1A8-BCDB-B75A-615DC88CC3CD}"/>
              </a:ext>
            </a:extLst>
          </p:cNvPr>
          <p:cNvSpPr txBox="1"/>
          <p:nvPr/>
        </p:nvSpPr>
        <p:spPr>
          <a:xfrm>
            <a:off x="5863473" y="6481083"/>
            <a:ext cx="24501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i-FI" sz="12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12</a:t>
            </a:r>
            <a:endParaRPr sz="1200" b="1" dirty="0"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9121E0-024C-50AF-30A5-3DAC9BAE9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827" y="1989846"/>
            <a:ext cx="6696173" cy="3251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EA3DCF-A2EB-514D-8F20-8DB5529AC8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989846"/>
            <a:ext cx="5241303" cy="3101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520ABC-30BF-0BE3-CA7B-D3CA55B53E04}"/>
              </a:ext>
            </a:extLst>
          </p:cNvPr>
          <p:cNvSpPr txBox="1"/>
          <p:nvPr/>
        </p:nvSpPr>
        <p:spPr>
          <a:xfrm>
            <a:off x="152401" y="787174"/>
            <a:ext cx="121919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Contribution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of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the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supermicron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aerosol</a:t>
            </a:r>
            <a:r>
              <a:rPr lang="fi-FI" sz="20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fi-FI" sz="2000" b="1" dirty="0" err="1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particles</a:t>
            </a:r>
            <a:endParaRPr lang="fi-FI" sz="2000" b="1" dirty="0"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10C74C-79C9-3C82-E28B-8F45E6CDDC10}"/>
              </a:ext>
            </a:extLst>
          </p:cNvPr>
          <p:cNvSpPr txBox="1"/>
          <p:nvPr/>
        </p:nvSpPr>
        <p:spPr>
          <a:xfrm>
            <a:off x="0" y="5344331"/>
            <a:ext cx="6259332" cy="1150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26035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Figure 10.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Time series of </a:t>
            </a:r>
            <a:r>
              <a:rPr lang="fi-FI" sz="1600" dirty="0">
                <a:solidFill>
                  <a:srgbClr val="202122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PM </a:t>
            </a:r>
            <a:r>
              <a:rPr lang="fi-FI" sz="1600" dirty="0" err="1">
                <a:solidFill>
                  <a:srgbClr val="202122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mass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for the submicron,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supermicron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and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super-PM</a:t>
            </a:r>
            <a:r>
              <a:rPr lang="en-US" sz="1600" baseline="-25000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10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aerosol particles from 2010-22.</a:t>
            </a:r>
            <a:endParaRPr lang="fi-FI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89436-5306-FC70-F5FB-E73F63A7E9F6}"/>
              </a:ext>
            </a:extLst>
          </p:cNvPr>
          <p:cNvSpPr txBox="1"/>
          <p:nvPr/>
        </p:nvSpPr>
        <p:spPr>
          <a:xfrm>
            <a:off x="5863340" y="5333269"/>
            <a:ext cx="6328659" cy="1150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26035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Figure 11.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Seasonal variability of PM mass for the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submicron and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supermicron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aerosol particles from 2010-22.</a:t>
            </a:r>
            <a:endParaRPr lang="fi-FI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040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BCEC1F28-FEE9-FE16-B3B9-82234CB15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7242" cy="1561092"/>
          </a:xfrm>
          <a:prstGeom prst="rect">
            <a:avLst/>
          </a:prstGeom>
        </p:spPr>
      </p:pic>
      <p:pic>
        <p:nvPicPr>
          <p:cNvPr id="5" name="Picture 4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98FE130F-B8D8-6DF5-5CCA-38F476B7DA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153" y="0"/>
            <a:ext cx="1466847" cy="14668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F58514-7BE4-3848-7EC3-D231CFDDB082}"/>
              </a:ext>
            </a:extLst>
          </p:cNvPr>
          <p:cNvSpPr txBox="1"/>
          <p:nvPr/>
        </p:nvSpPr>
        <p:spPr>
          <a:xfrm>
            <a:off x="1" y="584174"/>
            <a:ext cx="12191999" cy="4154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fi-FI" sz="2000" b="1" dirty="0" err="1">
                <a:latin typeface="Verdana"/>
                <a:ea typeface="Verdana"/>
                <a:cs typeface="Helvetica"/>
              </a:rPr>
              <a:t>Summary</a:t>
            </a:r>
            <a:r>
              <a:rPr lang="fi-FI" sz="2000" b="1" dirty="0">
                <a:latin typeface="Verdana"/>
                <a:ea typeface="Verdana"/>
                <a:cs typeface="Helvetica"/>
              </a:rPr>
              <a:t> and </a:t>
            </a:r>
            <a:r>
              <a:rPr lang="fi-FI" sz="2000" b="1" dirty="0" err="1">
                <a:latin typeface="Verdana"/>
                <a:ea typeface="Verdana"/>
                <a:cs typeface="Helvetica"/>
              </a:rPr>
              <a:t>conclusions</a:t>
            </a:r>
            <a:endParaRPr lang="fi-FI" sz="2000" b="1" dirty="0" err="1">
              <a:latin typeface="Verdana" panose="020B060403050404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E5EF4E-52E3-8473-F6A3-D9FF82B26651}"/>
              </a:ext>
            </a:extLst>
          </p:cNvPr>
          <p:cNvSpPr txBox="1"/>
          <p:nvPr/>
        </p:nvSpPr>
        <p:spPr>
          <a:xfrm>
            <a:off x="1640264" y="2145266"/>
            <a:ext cx="90848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overall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trend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seems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to show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aerosol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size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distribution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consists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more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submicron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aerosol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particles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</a:p>
          <a:p>
            <a:endParaRPr lang="fi-FI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trend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of b for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supermicron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aerosol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particles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is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approx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. &gt; 2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times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trend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of b for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submicron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aerosol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particles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i-FI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But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very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sharp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decline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in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SAE of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supermicron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aerosol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particles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suggests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perhaps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supermicron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aerosol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particles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may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have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role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to play.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i-FI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seasonal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variablity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of PM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mass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does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show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supermicron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aersol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particles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make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fi-FI" sz="1600">
                <a:latin typeface="Verdana" panose="020B0604030504040204" pitchFamily="34" charset="0"/>
                <a:ea typeface="Verdana" panose="020B0604030504040204" pitchFamily="34" charset="0"/>
              </a:rPr>
              <a:t>substantial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fraction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PM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mass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during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spring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and summer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seasons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i-FI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However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optically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supermicron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aerosol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particles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show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very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little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i-FI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effect</a:t>
            </a:r>
            <a:r>
              <a:rPr lang="fi-FI" sz="16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i-FI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i-FI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i-FI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i-FI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i-FI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7557AA-D275-BCCE-5020-548AEB4F8061}"/>
              </a:ext>
            </a:extLst>
          </p:cNvPr>
          <p:cNvSpPr txBox="1"/>
          <p:nvPr/>
        </p:nvSpPr>
        <p:spPr>
          <a:xfrm>
            <a:off x="5761219" y="6398302"/>
            <a:ext cx="40723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i-FI" sz="1200" b="1" dirty="0">
                <a:latin typeface="Verdana"/>
                <a:ea typeface="Verdana"/>
              </a:rPr>
              <a:t>13</a:t>
            </a:r>
            <a:endParaRPr lang="en-US" sz="1200" dirty="0">
              <a:latin typeface="Verdana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525110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51DFBB07-1B9D-4185-CA8A-1937D1264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7242" cy="1561092"/>
          </a:xfrm>
          <a:prstGeom prst="rect">
            <a:avLst/>
          </a:prstGeom>
        </p:spPr>
      </p:pic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ED1DC5F7-CA30-644A-34DF-4EA2D24D89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153" y="0"/>
            <a:ext cx="1466847" cy="1466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A13E08-9889-3668-E8BD-5347B1C2D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576" y="1713507"/>
            <a:ext cx="9180190" cy="41693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C3DCB3-B5C6-84FB-E805-503AE4662D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02575"/>
            <a:ext cx="12192000" cy="645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68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51DFBB07-1B9D-4185-CA8A-1937D1264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7242" cy="1561092"/>
          </a:xfrm>
          <a:prstGeom prst="rect">
            <a:avLst/>
          </a:prstGeom>
        </p:spPr>
      </p:pic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ED1DC5F7-CA30-644A-34DF-4EA2D24D89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153" y="0"/>
            <a:ext cx="1466847" cy="14668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E2D6E3-B80B-4494-E967-A6665198845E}"/>
              </a:ext>
            </a:extLst>
          </p:cNvPr>
          <p:cNvSpPr txBox="1"/>
          <p:nvPr/>
        </p:nvSpPr>
        <p:spPr>
          <a:xfrm>
            <a:off x="5761219" y="6398302"/>
            <a:ext cx="40723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i-FI" sz="1200" b="1">
                <a:latin typeface="Verdana"/>
                <a:ea typeface="Verdana"/>
              </a:rPr>
              <a:t>14</a:t>
            </a:r>
            <a:endParaRPr lang="en-US" sz="1200" dirty="0">
              <a:latin typeface="Verdana"/>
              <a:ea typeface="Verdan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6EFB9C-8F69-8BFB-98FE-D52F05421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8885" y="1856193"/>
            <a:ext cx="8781738" cy="425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87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14526</TotalTime>
  <Words>1082</Words>
  <Application>Microsoft Office PowerPoint</Application>
  <PresentationFormat>Widescreen</PresentationFormat>
  <Paragraphs>114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Avenir</vt:lpstr>
      <vt:lpstr>Calibri</vt:lpstr>
      <vt:lpstr>Calibri Light</vt:lpstr>
      <vt:lpstr>Helvetica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Helsinki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Banerji, Sujai</dc:creator>
  <cp:lastModifiedBy>Banerji, Sujai</cp:lastModifiedBy>
  <cp:revision>108</cp:revision>
  <dcterms:created xsi:type="dcterms:W3CDTF">2024-05-06T09:25:28Z</dcterms:created>
  <dcterms:modified xsi:type="dcterms:W3CDTF">2026-05-13T23:28:23Z</dcterms:modified>
</cp:coreProperties>
</file>